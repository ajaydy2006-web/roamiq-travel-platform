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7" r:id="rId4"/>
    <p:sldId id="274" r:id="rId5"/>
    <p:sldId id="271" r:id="rId6"/>
    <p:sldId id="269" r:id="rId7"/>
    <p:sldId id="272" r:id="rId8"/>
    <p:sldId id="263" r:id="rId9"/>
    <p:sldId id="273" r:id="rId10"/>
    <p:sldId id="261" r:id="rId11"/>
    <p:sldId id="27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6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Market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20B4D2"/>
              </a:solidFill>
            </c:spPr>
            <c:extLst>
              <c:ext xmlns:c16="http://schemas.microsoft.com/office/drawing/2014/chart" uri="{C3380CC4-5D6E-409C-BE32-E72D297353CC}">
                <c16:uniqueId val="{00000001-3775-4877-BF3F-EA312BEFAF03}"/>
              </c:ext>
            </c:extLst>
          </c:dPt>
          <c:dPt>
            <c:idx val="1"/>
            <c:invertIfNegative val="1"/>
            <c:bubble3D val="0"/>
            <c:spPr>
              <a:solidFill>
                <a:srgbClr val="20B4D2"/>
              </a:solidFill>
            </c:spPr>
            <c:extLst>
              <c:ext xmlns:c16="http://schemas.microsoft.com/office/drawing/2014/chart" uri="{C3380CC4-5D6E-409C-BE32-E72D297353CC}">
                <c16:uniqueId val="{00000003-3775-4877-BF3F-EA312BEFAF03}"/>
              </c:ext>
            </c:extLst>
          </c:dPt>
          <c:dPt>
            <c:idx val="2"/>
            <c:invertIfNegative val="1"/>
            <c:bubble3D val="0"/>
            <c:spPr>
              <a:solidFill>
                <a:srgbClr val="1669BE"/>
              </a:solidFill>
            </c:spPr>
            <c:extLst>
              <c:ext xmlns:c16="http://schemas.microsoft.com/office/drawing/2014/chart" uri="{C3380CC4-5D6E-409C-BE32-E72D297353CC}">
                <c16:uniqueId val="{00000005-3775-4877-BF3F-EA312BEFAF03}"/>
              </c:ext>
            </c:extLst>
          </c:dPt>
          <c:dLbls>
            <c:numFmt formatCode="&quot;$&quot;0.00&quot;B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latin typeface="Apto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2025</c:v>
                </c:pt>
                <c:pt idx="1">
                  <c:v>2026 (forecast)</c:v>
                </c:pt>
                <c:pt idx="2">
                  <c:v>2034 (forecast)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0.85</c:v>
                </c:pt>
                <c:pt idx="1">
                  <c:v>1.1000000000000001</c:v>
                </c:pt>
                <c:pt idx="2">
                  <c:v>7.59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775-4877-BF3F-EA312BEFAF0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CE4EC"/>
            </a:solidFill>
          </a:ln>
        </c:spPr>
        <c:txPr>
          <a:bodyPr/>
          <a:lstStyle/>
          <a:p>
            <a:pPr>
              <a:defRPr sz="1200">
                <a:latin typeface="Apto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161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11480" y="1051560"/>
            <a:ext cx="7955279" cy="4206240"/>
          </a:xfrm>
          <a:prstGeom prst="rect">
            <a:avLst/>
          </a:prstGeom>
          <a:solidFill>
            <a:srgbClr val="0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6436377" cy="23519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rPr sz="3800" b="1" dirty="0">
                <a:solidFill>
                  <a:srgbClr val="FFFFFF"/>
                </a:solidFill>
                <a:latin typeface="Aptos Display"/>
              </a:rPr>
              <a:t>AI-Powered Travel</a:t>
            </a:r>
            <a:r>
              <a:rPr dirty="0"/>
              <a:t/>
            </a:r>
            <a:br>
              <a:rPr dirty="0"/>
            </a:br>
            <a:r>
              <a:rPr sz="3800" b="1" dirty="0">
                <a:solidFill>
                  <a:srgbClr val="FFFFFF"/>
                </a:solidFill>
                <a:latin typeface="Aptos Display"/>
              </a:rPr>
              <a:t>Planning &amp; Safety Platform</a:t>
            </a:r>
          </a:p>
          <a:p>
            <a:pPr>
              <a:spcBef>
                <a:spcPts val="1400"/>
              </a:spcBef>
              <a:defRPr sz="1800">
                <a:solidFill>
                  <a:srgbClr val="CDEBF5"/>
                </a:solidFill>
                <a:latin typeface="Aptos"/>
              </a:defRPr>
            </a:pPr>
            <a:r>
              <a:rPr sz="1800" dirty="0">
                <a:solidFill>
                  <a:srgbClr val="CDEBF5"/>
                </a:solidFill>
                <a:latin typeface="Aptos"/>
              </a:rPr>
              <a:t>Intelligent, Safe, and Adaptive Itineraries</a:t>
            </a:r>
          </a:p>
          <a:p>
            <a:pPr>
              <a:spcBef>
                <a:spcPts val="3500"/>
              </a:spcBef>
              <a:defRPr sz="1200">
                <a:solidFill>
                  <a:srgbClr val="FFFFFF"/>
                </a:solidFill>
                <a:latin typeface="Aptos"/>
              </a:defRPr>
            </a:pPr>
            <a:r>
              <a:rPr sz="1200" dirty="0">
                <a:solidFill>
                  <a:srgbClr val="FFFFFF"/>
                </a:solidFill>
                <a:latin typeface="Aptos"/>
              </a:rPr>
              <a:t>Presenter / Team</a:t>
            </a:r>
            <a:r>
              <a:rPr sz="1200" dirty="0" smtClean="0">
                <a:solidFill>
                  <a:srgbClr val="FFFFFF"/>
                </a:solidFill>
                <a:latin typeface="Aptos"/>
              </a:rPr>
              <a:t>:</a:t>
            </a:r>
            <a:r>
              <a:rPr lang="en-US" sz="1200" dirty="0" smtClean="0">
                <a:solidFill>
                  <a:srgbClr val="FFFFFF"/>
                </a:solidFill>
                <a:latin typeface="Aptos"/>
              </a:rPr>
              <a:t> DEV BYTE</a:t>
            </a:r>
            <a:endParaRPr sz="1200" dirty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</a:rPr>
              <a:t>Problem Understanding: Why Travel Fails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87552"/>
            <a:ext cx="109728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100">
                <a:solidFill>
                  <a:srgbClr val="FFFFFF"/>
                </a:solidFill>
                <a:latin typeface="Aptos"/>
              </a:defRPr>
            </a:pPr>
            <a:r>
              <a:rPr sz="1100">
                <a:solidFill>
                  <a:srgbClr val="FFFFFF"/>
                </a:solidFill>
                <a:latin typeface="Aptos"/>
              </a:rPr>
              <a:t>Planning is slow and fragmented, and travel scams are getting harder to spot.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rPr sz="800">
                <a:solidFill>
                  <a:srgbClr val="FFFFFF"/>
                </a:solidFill>
                <a:latin typeface="Aptos"/>
              </a:rPr>
              <a:t>AI-Powered Travel Planning &amp; Safety Platform  •  Problem Understanding &amp; Relevance  •  2/12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463040"/>
            <a:ext cx="260604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669BE"/>
                </a:solidFill>
                <a:latin typeface="Aptos Display"/>
              </a:rPr>
              <a:t>277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0604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A1F3A"/>
                </a:solidFill>
                <a:latin typeface="Aptos"/>
              </a:rPr>
              <a:t>web pages viewed by US travelers in the 45 days before booking a trip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77639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F6E7D"/>
                </a:solidFill>
                <a:latin typeface="Aptos"/>
              </a:rPr>
              <a:t>Expedia Group research, 2023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1463040"/>
            <a:ext cx="260604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1188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0B4D2"/>
                </a:solidFill>
                <a:latin typeface="Aptos Display"/>
              </a:rPr>
              <a:t>90%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60604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A1F3A"/>
                </a:solidFill>
                <a:latin typeface="Aptos"/>
              </a:rPr>
              <a:t>of travelers feel pressure to book quickly; 33% ignore warning signs to catch a deal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3977639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F6E7D"/>
                </a:solidFill>
                <a:latin typeface="Aptos"/>
              </a:rPr>
              <a:t>McAfee survey, 2026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463040"/>
            <a:ext cx="260604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B9137"/>
                </a:solidFill>
                <a:latin typeface="Aptos Display"/>
              </a:rPr>
              <a:t>1 in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60604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A1F3A"/>
                </a:solidFill>
                <a:latin typeface="Aptos"/>
              </a:rPr>
              <a:t>travelers have faced a travel scam as rising costs push riskier bookings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977639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F6E7D"/>
                </a:solidFill>
                <a:latin typeface="Aptos"/>
              </a:rPr>
              <a:t>McAfee, May 2026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1463040"/>
            <a:ext cx="2606040" cy="3063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8116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EB9137"/>
                </a:solidFill>
                <a:latin typeface="Aptos Display"/>
              </a:rPr>
              <a:t>500–900%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606040"/>
            <a:ext cx="21945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A1F3A"/>
                </a:solidFill>
                <a:latin typeface="Aptos"/>
              </a:rPr>
              <a:t>rise in AI-driven scams on Booking.com over 18 months, per its safety head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3977639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F6E7D"/>
                </a:solidFill>
                <a:latin typeface="Aptos"/>
              </a:rPr>
              <a:t>Reported by Defend-ID, Jul 2026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754880"/>
            <a:ext cx="11109960" cy="1188720"/>
          </a:xfrm>
          <a:prstGeom prst="roundRect">
            <a:avLst>
              <a:gd name="adj" fmla="val 10000"/>
            </a:avLst>
          </a:prstGeom>
          <a:solidFill>
            <a:srgbClr val="0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489204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DEBF5"/>
                </a:solidFill>
                <a:latin typeface="Aptos"/>
              </a:rPr>
              <a:t>The gap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4892040"/>
            <a:ext cx="85039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Most tools help you plan a trip. Few put safety, price protection, and live replanning inside the plan itself. That is the space we build 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161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</a:rPr>
              <a:t>Solution Approach: Plan Smart, Spend Smart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87552"/>
            <a:ext cx="10972800" cy="2616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100">
                <a:solidFill>
                  <a:srgbClr val="FFFFFF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</a:rPr>
              <a:t>From a few inputs to a day-by-day plan with a logical route and a budget that fits.</a:t>
            </a:r>
          </a:p>
        </p:txBody>
      </p:sp>
      <p:sp>
        <p:nvSpPr>
          <p:cNvPr id="21" name="Card 1"/>
          <p:cNvSpPr/>
          <p:nvPr/>
        </p:nvSpPr>
        <p:spPr>
          <a:xfrm>
            <a:off x="548640" y="1783080"/>
            <a:ext cx="352044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46304" rIns="146304" bIns="91440" rtlCol="0" anchor="t"/>
          <a:lstStyle/>
          <a:p>
            <a:pPr algn="l"/>
            <a:r>
              <a:rPr lang="en-US" sz="1800" b="1" dirty="0">
                <a:solidFill>
                  <a:srgbClr val="0A1F3A"/>
                </a:solidFill>
                <a:latin typeface="Aptos"/>
              </a:rPr>
              <a:t>One Integrated Plan</a:t>
            </a:r>
          </a:p>
          <a:p>
            <a:pPr algn="l">
              <a:spcBef>
                <a:spcPts val="800"/>
              </a:spcBef>
            </a:pPr>
            <a:r>
              <a:rPr lang="en-US" sz="1400" dirty="0">
                <a:solidFill>
                  <a:srgbClr val="232D3A"/>
                </a:solidFill>
                <a:latin typeface="Aptos"/>
              </a:rPr>
              <a:t>• Stay, transport, budget, and safety in one workflow.</a:t>
            </a:r>
          </a:p>
          <a:p>
            <a:pPr algn="l">
              <a:spcBef>
                <a:spcPts val="800"/>
              </a:spcBef>
            </a:pPr>
            <a:r>
              <a:rPr lang="en-US" sz="1400" dirty="0">
                <a:solidFill>
                  <a:srgbClr val="232D3A"/>
                </a:solidFill>
                <a:latin typeface="Aptos"/>
              </a:rPr>
              <a:t>• Famous landmarks plus vetted hidden gems, matched to your interests.</a:t>
            </a:r>
          </a:p>
          <a:p>
            <a:pPr algn="l">
              <a:spcBef>
                <a:spcPts val="800"/>
              </a:spcBef>
            </a:pPr>
            <a:r>
              <a:rPr lang="en-US" sz="1400" dirty="0">
                <a:solidFill>
                  <a:srgbClr val="232D3A"/>
                </a:solidFill>
                <a:latin typeface="Aptos"/>
              </a:rPr>
              <a:t>• Best time of day and weather-synced scheduling, e.g. 7:00 AM instead of 12:00 PM.</a:t>
            </a:r>
          </a:p>
          <a:p>
            <a:pPr algn="l">
              <a:spcBef>
                <a:spcPts val="800"/>
              </a:spcBef>
            </a:pPr>
            <a:r>
              <a:rPr lang="en-US" sz="1400" dirty="0">
                <a:solidFill>
                  <a:srgbClr val="232D3A"/>
                </a:solidFill>
                <a:latin typeface="Aptos"/>
              </a:rPr>
              <a:t>• Built for solo travelers, couples, families, and budget explorers.</a:t>
            </a:r>
          </a:p>
        </p:txBody>
      </p:sp>
      <p:sp>
        <p:nvSpPr>
          <p:cNvPr id="22" name="Card Accent 1"/>
          <p:cNvSpPr/>
          <p:nvPr/>
        </p:nvSpPr>
        <p:spPr>
          <a:xfrm>
            <a:off x="548640" y="1874520"/>
            <a:ext cx="64008" cy="3886200"/>
          </a:xfrm>
          <a:prstGeom prst="rect">
            <a:avLst/>
          </a:prstGeom>
          <a:solidFill>
            <a:srgbClr val="1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3" name="Chip 1"/>
          <p:cNvSpPr/>
          <p:nvPr/>
        </p:nvSpPr>
        <p:spPr>
          <a:xfrm>
            <a:off x="548640" y="1417320"/>
            <a:ext cx="1737360" cy="292608"/>
          </a:xfrm>
          <a:prstGeom prst="roundRect">
            <a:avLst>
              <a:gd name="adj" fmla="val 30000"/>
            </a:avLst>
          </a:prstGeom>
          <a:solidFill>
            <a:srgbClr val="1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ptos"/>
              </a:rPr>
              <a:t>PLAN</a:t>
            </a:r>
          </a:p>
        </p:txBody>
      </p:sp>
      <p:sp>
        <p:nvSpPr>
          <p:cNvPr id="24" name="Card 2"/>
          <p:cNvSpPr/>
          <p:nvPr/>
        </p:nvSpPr>
        <p:spPr>
          <a:xfrm>
            <a:off x="4343400" y="1783080"/>
            <a:ext cx="352044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46304" rIns="146304" bIns="91440" rtlCol="0" anchor="t"/>
          <a:lstStyle/>
          <a:p>
            <a:pPr algn="l"/>
            <a:r>
              <a:rPr lang="en-US" sz="1800" b="1" dirty="0">
                <a:solidFill>
                  <a:srgbClr val="0A1F3A"/>
                </a:solidFill>
                <a:latin typeface="Aptos"/>
              </a:rPr>
              <a:t>Example: 5 Days in Kerala</a:t>
            </a:r>
          </a:p>
          <a:p>
            <a:pPr algn="l">
              <a:spcBef>
                <a:spcPts val="800"/>
              </a:spcBef>
            </a:pPr>
            <a:r>
              <a:rPr lang="en-US" sz="1400" b="1" dirty="0">
                <a:solidFill>
                  <a:srgbClr val="1669BE"/>
                </a:solidFill>
                <a:latin typeface="Aptos"/>
              </a:rPr>
              <a:t>₹20,000 • Couple • Nature + beaches • Avoid crowds</a:t>
            </a:r>
          </a:p>
          <a:p>
            <a:pPr algn="l">
              <a:spcBef>
                <a:spcPts val="800"/>
              </a:spcBef>
            </a:pPr>
            <a:r>
              <a:rPr lang="en-US" sz="1400" dirty="0">
                <a:solidFill>
                  <a:srgbClr val="232D3A"/>
                </a:solidFill>
                <a:latin typeface="Aptos"/>
              </a:rPr>
              <a:t>• </a:t>
            </a:r>
            <a:r>
              <a:rPr lang="en-US" sz="1400" b="1" dirty="0">
                <a:solidFill>
                  <a:srgbClr val="0A1F3A"/>
                </a:solidFill>
                <a:latin typeface="Aptos"/>
              </a:rPr>
              <a:t>Day 1, Kochi: </a:t>
            </a:r>
            <a:r>
              <a:rPr lang="en-US" sz="1400" dirty="0">
                <a:solidFill>
                  <a:srgbClr val="232D3A"/>
                </a:solidFill>
                <a:latin typeface="Aptos"/>
              </a:rPr>
              <a:t>Fort Kochi, local food, heritage walk.</a:t>
            </a:r>
          </a:p>
          <a:p>
            <a:pPr algn="l">
              <a:spcBef>
                <a:spcPts val="800"/>
              </a:spcBef>
            </a:pPr>
            <a:r>
              <a:rPr lang="en-US" sz="1400" dirty="0">
                <a:solidFill>
                  <a:srgbClr val="232D3A"/>
                </a:solidFill>
                <a:latin typeface="Aptos"/>
              </a:rPr>
              <a:t>• </a:t>
            </a:r>
            <a:r>
              <a:rPr lang="en-US" sz="1400" b="1" dirty="0">
                <a:solidFill>
                  <a:srgbClr val="0A1F3A"/>
                </a:solidFill>
                <a:latin typeface="Aptos"/>
              </a:rPr>
              <a:t>Days 2–3, Munnar: </a:t>
            </a:r>
            <a:r>
              <a:rPr lang="en-US" sz="1400" dirty="0">
                <a:solidFill>
                  <a:srgbClr val="232D3A"/>
                </a:solidFill>
                <a:latin typeface="Aptos"/>
              </a:rPr>
              <a:t>tea plantations, viewpoints, trek, waterfall.</a:t>
            </a:r>
          </a:p>
          <a:p>
            <a:pPr algn="l">
              <a:spcBef>
                <a:spcPts val="800"/>
              </a:spcBef>
            </a:pPr>
            <a:r>
              <a:rPr lang="en-US" sz="1400" dirty="0">
                <a:solidFill>
                  <a:srgbClr val="232D3A"/>
                </a:solidFill>
                <a:latin typeface="Aptos"/>
              </a:rPr>
              <a:t>• </a:t>
            </a:r>
            <a:r>
              <a:rPr lang="en-US" sz="1400" b="1" dirty="0">
                <a:solidFill>
                  <a:srgbClr val="0A1F3A"/>
                </a:solidFill>
                <a:latin typeface="Aptos"/>
              </a:rPr>
              <a:t>Days 4–5: </a:t>
            </a:r>
            <a:r>
              <a:rPr lang="en-US" sz="1400" dirty="0">
                <a:solidFill>
                  <a:srgbClr val="232D3A"/>
                </a:solidFill>
                <a:latin typeface="Aptos"/>
              </a:rPr>
              <a:t>beach leg built around your interest.</a:t>
            </a:r>
          </a:p>
          <a:p>
            <a:pPr algn="l">
              <a:spcBef>
                <a:spcPts val="800"/>
              </a:spcBef>
            </a:pPr>
            <a:r>
              <a:rPr lang="en-US" sz="1400" dirty="0">
                <a:solidFill>
                  <a:srgbClr val="232D3A"/>
                </a:solidFill>
                <a:latin typeface="Aptos"/>
              </a:rPr>
              <a:t>• One forward route, with no “hotel → A → B → back” detours.</a:t>
            </a:r>
          </a:p>
        </p:txBody>
      </p:sp>
      <p:sp>
        <p:nvSpPr>
          <p:cNvPr id="25" name="Card Accent 2"/>
          <p:cNvSpPr/>
          <p:nvPr/>
        </p:nvSpPr>
        <p:spPr>
          <a:xfrm>
            <a:off x="4343400" y="1874520"/>
            <a:ext cx="64008" cy="3886200"/>
          </a:xfrm>
          <a:prstGeom prst="rect">
            <a:avLst/>
          </a:prstGeom>
          <a:solidFill>
            <a:srgbClr val="20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6" name="Chip 2"/>
          <p:cNvSpPr/>
          <p:nvPr/>
        </p:nvSpPr>
        <p:spPr>
          <a:xfrm>
            <a:off x="4343400" y="1417320"/>
            <a:ext cx="1737360" cy="292608"/>
          </a:xfrm>
          <a:prstGeom prst="roundRect">
            <a:avLst>
              <a:gd name="adj" fmla="val 30000"/>
            </a:avLst>
          </a:prstGeom>
          <a:solidFill>
            <a:srgbClr val="20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ptos"/>
              </a:rPr>
              <a:t>EXAMPLE</a:t>
            </a:r>
          </a:p>
        </p:txBody>
      </p:sp>
      <p:sp>
        <p:nvSpPr>
          <p:cNvPr id="27" name="Card 3"/>
          <p:cNvSpPr/>
          <p:nvPr/>
        </p:nvSpPr>
        <p:spPr>
          <a:xfrm>
            <a:off x="8138160" y="1783080"/>
            <a:ext cx="352044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46304" rIns="146304" bIns="91440" rtlCol="0" anchor="t"/>
          <a:lstStyle/>
          <a:p>
            <a:pPr algn="l"/>
            <a:r>
              <a:rPr lang="en-US" sz="1800" b="1" dirty="0">
                <a:solidFill>
                  <a:srgbClr val="0A1F3A"/>
                </a:solidFill>
                <a:latin typeface="Aptos"/>
              </a:rPr>
              <a:t>Budget Optimizer &amp; Hotel Pick</a:t>
            </a:r>
          </a:p>
          <a:p>
            <a:pPr algn="l">
              <a:spcBef>
                <a:spcPts val="800"/>
              </a:spcBef>
            </a:pPr>
            <a:r>
              <a:rPr lang="en-US" sz="1400" dirty="0">
                <a:solidFill>
                  <a:srgbClr val="232D3A"/>
                </a:solidFill>
                <a:latin typeface="Aptos"/>
              </a:rPr>
              <a:t>• ₹20,000 split: Hotels ₹6,000, Transport ₹4,000, Food ₹4,000, Activities ₹3,000, Other ₹1,500, Buffer ₹1,500.</a:t>
            </a:r>
          </a:p>
          <a:p>
            <a:pPr algn="l">
              <a:spcBef>
                <a:spcPts val="800"/>
              </a:spcBef>
            </a:pPr>
            <a:r>
              <a:rPr lang="en-US" sz="1400" dirty="0">
                <a:solidFill>
                  <a:srgbClr val="232D3A"/>
                </a:solidFill>
                <a:latin typeface="Aptos"/>
              </a:rPr>
              <a:t>• Hotels scored on price, location, ratings, and total stay cost.</a:t>
            </a:r>
          </a:p>
          <a:p>
            <a:pPr algn="l">
              <a:spcBef>
                <a:spcPts val="800"/>
              </a:spcBef>
            </a:pPr>
            <a:r>
              <a:rPr lang="en-US" sz="1400" dirty="0">
                <a:solidFill>
                  <a:srgbClr val="232D3A"/>
                </a:solidFill>
                <a:latin typeface="Aptos"/>
              </a:rPr>
              <a:t>• </a:t>
            </a:r>
            <a:r>
              <a:rPr lang="en-US" sz="1400" b="1" dirty="0">
                <a:solidFill>
                  <a:srgbClr val="0A1F3A"/>
                </a:solidFill>
                <a:latin typeface="Aptos"/>
              </a:rPr>
              <a:t>Hotel B </a:t>
            </a:r>
            <a:r>
              <a:rPr lang="en-US" sz="1400" dirty="0">
                <a:solidFill>
                  <a:srgbClr val="232D3A"/>
                </a:solidFill>
                <a:latin typeface="Aptos"/>
              </a:rPr>
              <a:t>(₹1,800/night) can beat Hotel A (₹1,500) by cutting transport spend.</a:t>
            </a:r>
          </a:p>
          <a:p>
            <a:pPr algn="l">
              <a:spcBef>
                <a:spcPts val="800"/>
              </a:spcBef>
            </a:pPr>
            <a:r>
              <a:rPr lang="en-US" sz="1400" dirty="0">
                <a:solidFill>
                  <a:srgbClr val="232D3A"/>
                </a:solidFill>
                <a:latin typeface="Aptos"/>
              </a:rPr>
              <a:t>• Over budget? The AI proposes cheaper alternatives.</a:t>
            </a:r>
          </a:p>
        </p:txBody>
      </p:sp>
      <p:sp>
        <p:nvSpPr>
          <p:cNvPr id="28" name="Card Accent 3"/>
          <p:cNvSpPr/>
          <p:nvPr/>
        </p:nvSpPr>
        <p:spPr>
          <a:xfrm>
            <a:off x="8138160" y="1874520"/>
            <a:ext cx="64008" cy="3886200"/>
          </a:xfrm>
          <a:prstGeom prst="rect">
            <a:avLst/>
          </a:prstGeom>
          <a:solidFill>
            <a:srgbClr val="26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9" name="Chip 3"/>
          <p:cNvSpPr/>
          <p:nvPr/>
        </p:nvSpPr>
        <p:spPr>
          <a:xfrm>
            <a:off x="8138160" y="1417320"/>
            <a:ext cx="1737360" cy="292608"/>
          </a:xfrm>
          <a:prstGeom prst="roundRect">
            <a:avLst>
              <a:gd name="adj" fmla="val 30000"/>
            </a:avLst>
          </a:prstGeom>
          <a:solidFill>
            <a:srgbClr val="26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ptos"/>
              </a:rPr>
              <a:t>OPTIMIZE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rPr sz="800">
                <a:solidFill>
                  <a:srgbClr val="FFFFFF"/>
                </a:solidFill>
                <a:latin typeface="Aptos"/>
              </a:rPr>
              <a:t>AI-Powered Travel Planning &amp; Safety Platform  •  Solution Quality &amp; Approach  •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161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</a:rPr>
              <a:t>Solution Quality: Safe, Protected &amp; Adaptive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87552"/>
            <a:ext cx="10972800" cy="2616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100">
                <a:solidFill>
                  <a:srgbClr val="FFFFFF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</a:rPr>
              <a:t>Safety is part of the itinerary, and the plan adapts when reality changes.</a:t>
            </a:r>
          </a:p>
        </p:txBody>
      </p:sp>
      <p:sp>
        <p:nvSpPr>
          <p:cNvPr id="30" name="Card 1"/>
          <p:cNvSpPr/>
          <p:nvPr/>
        </p:nvSpPr>
        <p:spPr>
          <a:xfrm>
            <a:off x="548640" y="1783080"/>
            <a:ext cx="352044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46304" rIns="146304" bIns="91440" rtlCol="0" anchor="t"/>
          <a:lstStyle/>
          <a:p>
            <a:pPr algn="l"/>
            <a:r>
              <a:rPr lang="en-US" sz="1800" b="1" dirty="0">
                <a:solidFill>
                  <a:srgbClr val="0A1F3A"/>
                </a:solidFill>
                <a:latin typeface="Aptos"/>
              </a:rPr>
              <a:t>Built-In Traveler Security</a:t>
            </a:r>
          </a:p>
          <a:p>
            <a:pPr algn="l">
              <a:spcBef>
                <a:spcPts val="800"/>
              </a:spcBef>
            </a:pPr>
            <a:r>
              <a:rPr lang="en-US" sz="1400" dirty="0">
                <a:solidFill>
                  <a:srgbClr val="232D3A"/>
                </a:solidFill>
                <a:latin typeface="Aptos"/>
              </a:rPr>
              <a:t>• </a:t>
            </a:r>
            <a:r>
              <a:rPr lang="en-US" sz="1400" b="1" dirty="0">
                <a:solidFill>
                  <a:srgbClr val="0A1F3A"/>
                </a:solidFill>
                <a:latin typeface="Aptos"/>
              </a:rPr>
              <a:t>Scam Shield: </a:t>
            </a:r>
            <a:r>
              <a:rPr lang="en-US" sz="1400" dirty="0">
                <a:solidFill>
                  <a:srgbClr val="232D3A"/>
                </a:solidFill>
                <a:latin typeface="Aptos"/>
              </a:rPr>
              <a:t>source-backed local scams and red flags.</a:t>
            </a:r>
          </a:p>
          <a:p>
            <a:pPr algn="l">
              <a:spcBef>
                <a:spcPts val="800"/>
              </a:spcBef>
            </a:pPr>
            <a:r>
              <a:rPr lang="en-US" sz="1400" dirty="0">
                <a:solidFill>
                  <a:srgbClr val="232D3A"/>
                </a:solidFill>
                <a:latin typeface="Aptos"/>
              </a:rPr>
              <a:t>• </a:t>
            </a:r>
            <a:r>
              <a:rPr lang="en-US" sz="1400" b="1" dirty="0">
                <a:solidFill>
                  <a:srgbClr val="0A1F3A"/>
                </a:solidFill>
                <a:latin typeface="Aptos"/>
              </a:rPr>
              <a:t>Tourist Price Guard: </a:t>
            </a:r>
            <a:r>
              <a:rPr lang="en-US" sz="1400" dirty="0">
                <a:solidFill>
                  <a:srgbClr val="232D3A"/>
                </a:solidFill>
                <a:latin typeface="Aptos"/>
              </a:rPr>
              <a:t>reference prices for taxis, tickets, and tours.</a:t>
            </a:r>
          </a:p>
          <a:p>
            <a:pPr algn="l">
              <a:spcBef>
                <a:spcPts val="800"/>
              </a:spcBef>
            </a:pPr>
            <a:r>
              <a:rPr lang="en-US" sz="1400" dirty="0">
                <a:solidFill>
                  <a:srgbClr val="232D3A"/>
                </a:solidFill>
                <a:latin typeface="Aptos"/>
              </a:rPr>
              <a:t>• </a:t>
            </a:r>
            <a:r>
              <a:rPr lang="en-US" sz="1400" b="1" dirty="0">
                <a:solidFill>
                  <a:srgbClr val="0A1F3A"/>
                </a:solidFill>
                <a:latin typeface="Aptos"/>
              </a:rPr>
              <a:t>AI Do's &amp; Don'ts: </a:t>
            </a:r>
            <a:r>
              <a:rPr lang="en-US" sz="1400" dirty="0">
                <a:solidFill>
                  <a:srgbClr val="232D3A"/>
                </a:solidFill>
                <a:latin typeface="Aptos"/>
              </a:rPr>
              <a:t>local rules, culture, and photo limits.</a:t>
            </a:r>
          </a:p>
          <a:p>
            <a:pPr algn="l">
              <a:spcBef>
                <a:spcPts val="800"/>
              </a:spcBef>
            </a:pPr>
            <a:r>
              <a:rPr lang="en-US" sz="1400" dirty="0">
                <a:solidFill>
                  <a:srgbClr val="232D3A"/>
                </a:solidFill>
                <a:latin typeface="Aptos"/>
              </a:rPr>
              <a:t>• </a:t>
            </a:r>
            <a:r>
              <a:rPr lang="en-US" sz="1400" b="1" dirty="0">
                <a:solidFill>
                  <a:srgbClr val="0A1F3A"/>
                </a:solidFill>
                <a:latin typeface="Aptos"/>
              </a:rPr>
              <a:t>Emergency Hub: </a:t>
            </a:r>
            <a:r>
              <a:rPr lang="en-US" sz="1400" dirty="0">
                <a:solidFill>
                  <a:srgbClr val="232D3A"/>
                </a:solidFill>
                <a:latin typeface="Aptos"/>
              </a:rPr>
              <a:t>local contacts, hospitals, and consulate details.</a:t>
            </a:r>
          </a:p>
        </p:txBody>
      </p:sp>
      <p:sp>
        <p:nvSpPr>
          <p:cNvPr id="31" name="Card Accent 1"/>
          <p:cNvSpPr/>
          <p:nvPr/>
        </p:nvSpPr>
        <p:spPr>
          <a:xfrm>
            <a:off x="548640" y="1874520"/>
            <a:ext cx="64008" cy="3886200"/>
          </a:xfrm>
          <a:prstGeom prst="rect">
            <a:avLst/>
          </a:prstGeom>
          <a:solidFill>
            <a:srgbClr val="1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2" name="Chip 1"/>
          <p:cNvSpPr/>
          <p:nvPr/>
        </p:nvSpPr>
        <p:spPr>
          <a:xfrm>
            <a:off x="548640" y="1417320"/>
            <a:ext cx="1737360" cy="292608"/>
          </a:xfrm>
          <a:prstGeom prst="roundRect">
            <a:avLst>
              <a:gd name="adj" fmla="val 30000"/>
            </a:avLst>
          </a:prstGeom>
          <a:solidFill>
            <a:srgbClr val="1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ptos"/>
              </a:rPr>
              <a:t>PROTECT</a:t>
            </a:r>
          </a:p>
        </p:txBody>
      </p:sp>
      <p:sp>
        <p:nvSpPr>
          <p:cNvPr id="33" name="Card 2"/>
          <p:cNvSpPr/>
          <p:nvPr/>
        </p:nvSpPr>
        <p:spPr>
          <a:xfrm>
            <a:off x="4343400" y="1783080"/>
            <a:ext cx="352044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46304" rIns="146304" bIns="91440" rtlCol="0" anchor="t"/>
          <a:lstStyle/>
          <a:p>
            <a:pPr algn="l"/>
            <a:r>
              <a:rPr lang="en-US" sz="1800" b="1" dirty="0">
                <a:solidFill>
                  <a:srgbClr val="0A1F3A"/>
                </a:solidFill>
                <a:latin typeface="Aptos"/>
              </a:rPr>
              <a:t>Scam Shield in Action</a:t>
            </a:r>
          </a:p>
          <a:p>
            <a:pPr algn="l">
              <a:spcBef>
                <a:spcPts val="800"/>
              </a:spcBef>
            </a:pPr>
            <a:r>
              <a:rPr lang="en-US" sz="1400" dirty="0">
                <a:solidFill>
                  <a:srgbClr val="232D3A"/>
                </a:solidFill>
                <a:latin typeface="Aptos"/>
              </a:rPr>
              <a:t>Taxi scam: the driver claims the meter is unavailable and demands a high fare.</a:t>
            </a:r>
          </a:p>
          <a:p>
            <a:pPr algn="l">
              <a:spcBef>
                <a:spcPts val="800"/>
              </a:spcBef>
            </a:pPr>
            <a:r>
              <a:rPr lang="en-US" sz="1400" dirty="0">
                <a:solidFill>
                  <a:srgbClr val="232D3A"/>
                </a:solidFill>
                <a:latin typeface="Aptos"/>
              </a:rPr>
              <a:t>• </a:t>
            </a:r>
            <a:r>
              <a:rPr lang="en-US" sz="1400" b="1" dirty="0">
                <a:solidFill>
                  <a:srgbClr val="0A1F3A"/>
                </a:solidFill>
                <a:latin typeface="Aptos"/>
              </a:rPr>
              <a:t>Price Guard: </a:t>
            </a:r>
            <a:r>
              <a:rPr lang="en-US" sz="1400" dirty="0">
                <a:solidFill>
                  <a:srgbClr val="232D3A"/>
                </a:solidFill>
                <a:latin typeface="Aptos"/>
              </a:rPr>
              <a:t>typical fare ₹250–₹400 vs ₹1,000 asked, shown as possible overcharging.</a:t>
            </a:r>
          </a:p>
          <a:p>
            <a:pPr algn="l">
              <a:spcBef>
                <a:spcPts val="800"/>
              </a:spcBef>
            </a:pPr>
            <a:r>
              <a:rPr lang="en-US" sz="1400" dirty="0">
                <a:solidFill>
                  <a:srgbClr val="232D3A"/>
                </a:solidFill>
                <a:latin typeface="Aptos"/>
              </a:rPr>
              <a:t>• </a:t>
            </a:r>
            <a:r>
              <a:rPr lang="en-US" sz="1400" b="1" dirty="0">
                <a:solidFill>
                  <a:srgbClr val="0A1F3A"/>
                </a:solidFill>
                <a:latin typeface="Aptos"/>
              </a:rPr>
              <a:t>Do: </a:t>
            </a:r>
            <a:r>
              <a:rPr lang="en-US" sz="1400" dirty="0">
                <a:solidFill>
                  <a:srgbClr val="232D3A"/>
                </a:solidFill>
                <a:latin typeface="Aptos"/>
              </a:rPr>
              <a:t>use authorized transport and confirm the price first.</a:t>
            </a:r>
          </a:p>
          <a:p>
            <a:pPr algn="l">
              <a:spcBef>
                <a:spcPts val="800"/>
              </a:spcBef>
            </a:pPr>
            <a:r>
              <a:rPr lang="en-US" sz="1400" dirty="0">
                <a:solidFill>
                  <a:srgbClr val="232D3A"/>
                </a:solidFill>
                <a:latin typeface="Aptos"/>
              </a:rPr>
              <a:t>• A warning, not an accusation, and only where reliable prices exist.</a:t>
            </a:r>
          </a:p>
        </p:txBody>
      </p:sp>
      <p:sp>
        <p:nvSpPr>
          <p:cNvPr id="34" name="Card Accent 2"/>
          <p:cNvSpPr/>
          <p:nvPr/>
        </p:nvSpPr>
        <p:spPr>
          <a:xfrm>
            <a:off x="4343400" y="1874520"/>
            <a:ext cx="64008" cy="3886200"/>
          </a:xfrm>
          <a:prstGeom prst="rect">
            <a:avLst/>
          </a:prstGeom>
          <a:solidFill>
            <a:srgbClr val="20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5" name="Chip 2"/>
          <p:cNvSpPr/>
          <p:nvPr/>
        </p:nvSpPr>
        <p:spPr>
          <a:xfrm>
            <a:off x="4343400" y="1417320"/>
            <a:ext cx="1737360" cy="292608"/>
          </a:xfrm>
          <a:prstGeom prst="roundRect">
            <a:avLst>
              <a:gd name="adj" fmla="val 30000"/>
            </a:avLst>
          </a:prstGeom>
          <a:solidFill>
            <a:srgbClr val="20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ptos"/>
              </a:rPr>
              <a:t>WARN</a:t>
            </a:r>
          </a:p>
        </p:txBody>
      </p:sp>
      <p:sp>
        <p:nvSpPr>
          <p:cNvPr id="36" name="Card 3"/>
          <p:cNvSpPr/>
          <p:nvPr/>
        </p:nvSpPr>
        <p:spPr>
          <a:xfrm>
            <a:off x="8138160" y="1783080"/>
            <a:ext cx="352044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46304" rIns="146304" bIns="91440" rtlCol="0" anchor="t"/>
          <a:lstStyle/>
          <a:p>
            <a:pPr algn="l"/>
            <a:r>
              <a:rPr lang="en-US" sz="1800" b="1" dirty="0">
                <a:solidFill>
                  <a:srgbClr val="0A1F3A"/>
                </a:solidFill>
                <a:latin typeface="Aptos"/>
              </a:rPr>
              <a:t>Adaptive Replanning &amp; What-If</a:t>
            </a:r>
          </a:p>
          <a:p>
            <a:pPr algn="l">
              <a:spcBef>
                <a:spcPts val="800"/>
              </a:spcBef>
            </a:pPr>
            <a:r>
              <a:rPr lang="en-US" sz="1400" dirty="0">
                <a:solidFill>
                  <a:srgbClr val="232D3A"/>
                </a:solidFill>
                <a:latin typeface="Aptos"/>
              </a:rPr>
              <a:t>• </a:t>
            </a:r>
            <a:r>
              <a:rPr lang="en-US" sz="1400" b="1" dirty="0">
                <a:solidFill>
                  <a:srgbClr val="0A1F3A"/>
                </a:solidFill>
                <a:latin typeface="Aptos"/>
              </a:rPr>
              <a:t>Live triggers: </a:t>
            </a:r>
            <a:r>
              <a:rPr lang="en-US" sz="1400" dirty="0">
                <a:solidFill>
                  <a:srgbClr val="232D3A"/>
                </a:solidFill>
                <a:latin typeface="Aptos"/>
              </a:rPr>
              <a:t>weather, closures, transport, and crowds.</a:t>
            </a:r>
          </a:p>
          <a:p>
            <a:pPr algn="l">
              <a:spcBef>
                <a:spcPts val="800"/>
              </a:spcBef>
            </a:pPr>
            <a:r>
              <a:rPr lang="en-US" sz="1400" dirty="0">
                <a:solidFill>
                  <a:srgbClr val="232D3A"/>
                </a:solidFill>
                <a:latin typeface="Aptos"/>
              </a:rPr>
              <a:t>• Heavy rain on Day 3? The AI moves the trek to Day 4 and brings the museum forward.</a:t>
            </a:r>
          </a:p>
          <a:p>
            <a:pPr algn="l">
              <a:spcBef>
                <a:spcPts val="800"/>
              </a:spcBef>
            </a:pPr>
            <a:r>
              <a:rPr lang="en-US" sz="1400" dirty="0">
                <a:solidFill>
                  <a:srgbClr val="232D3A"/>
                </a:solidFill>
                <a:latin typeface="Aptos"/>
              </a:rPr>
              <a:t>• </a:t>
            </a:r>
            <a:r>
              <a:rPr lang="en-US" sz="1400" b="1" dirty="0">
                <a:solidFill>
                  <a:srgbClr val="0A1F3A"/>
                </a:solidFill>
                <a:latin typeface="Aptos"/>
              </a:rPr>
              <a:t>What-If: </a:t>
            </a:r>
            <a:r>
              <a:rPr lang="en-US" sz="1400" dirty="0">
                <a:solidFill>
                  <a:srgbClr val="232D3A"/>
                </a:solidFill>
                <a:latin typeface="Aptos"/>
              </a:rPr>
              <a:t>“only 3 days,” “budget ₹12,000,” “no adventure,” “max 2 hours of travel a day.”</a:t>
            </a:r>
          </a:p>
          <a:p>
            <a:pPr algn="l">
              <a:spcBef>
                <a:spcPts val="800"/>
              </a:spcBef>
            </a:pPr>
            <a:r>
              <a:rPr lang="en-US" sz="1400" dirty="0">
                <a:solidFill>
                  <a:srgbClr val="232D3A"/>
                </a:solidFill>
                <a:latin typeface="Aptos"/>
              </a:rPr>
              <a:t>• The What-If simulator is part of Phase 2.</a:t>
            </a:r>
          </a:p>
        </p:txBody>
      </p:sp>
      <p:sp>
        <p:nvSpPr>
          <p:cNvPr id="37" name="Card Accent 3"/>
          <p:cNvSpPr/>
          <p:nvPr/>
        </p:nvSpPr>
        <p:spPr>
          <a:xfrm>
            <a:off x="8138160" y="1874520"/>
            <a:ext cx="64008" cy="3886200"/>
          </a:xfrm>
          <a:prstGeom prst="rect">
            <a:avLst/>
          </a:prstGeom>
          <a:solidFill>
            <a:srgbClr val="26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8" name="Chip 3"/>
          <p:cNvSpPr/>
          <p:nvPr/>
        </p:nvSpPr>
        <p:spPr>
          <a:xfrm>
            <a:off x="8138160" y="1417320"/>
            <a:ext cx="1737360" cy="292608"/>
          </a:xfrm>
          <a:prstGeom prst="roundRect">
            <a:avLst>
              <a:gd name="adj" fmla="val 30000"/>
            </a:avLst>
          </a:prstGeom>
          <a:solidFill>
            <a:srgbClr val="26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ptos"/>
              </a:rPr>
              <a:t>ADAPT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rPr sz="800">
                <a:solidFill>
                  <a:srgbClr val="FFFFFF"/>
                </a:solidFill>
                <a:latin typeface="Aptos"/>
              </a:rPr>
              <a:t>AI-Powered Travel Planning &amp; Safety Platform  •  Solution Quality &amp; Approach  •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161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</a:rPr>
              <a:t>Innovation: 12 Features, One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87552"/>
            <a:ext cx="10972800" cy="2616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100">
                <a:solidFill>
                  <a:srgbClr val="FFFFFF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</a:rPr>
              <a:t>Safety, savings, and local discovery combined in one intelligent plan.</a:t>
            </a:r>
          </a:p>
        </p:txBody>
      </p:sp>
      <p:sp>
        <p:nvSpPr>
          <p:cNvPr id="21" name="Card 1"/>
          <p:cNvSpPr/>
          <p:nvPr/>
        </p:nvSpPr>
        <p:spPr>
          <a:xfrm>
            <a:off x="548640" y="1783080"/>
            <a:ext cx="352044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46304" rIns="146304" bIns="91440" rtlCol="0" anchor="t"/>
          <a:lstStyle/>
          <a:p>
            <a:pPr algn="l"/>
            <a:r>
              <a:rPr lang="en-US" sz="1800" b="1" dirty="0">
                <a:solidFill>
                  <a:srgbClr val="0A1F3A"/>
                </a:solidFill>
                <a:latin typeface="Aptos"/>
              </a:rPr>
              <a:t>Stay Safe</a:t>
            </a:r>
          </a:p>
          <a:p>
            <a:pPr algn="l">
              <a:spcBef>
                <a:spcPts val="800"/>
              </a:spcBef>
            </a:pPr>
            <a:r>
              <a:rPr lang="en-US" sz="1400" dirty="0">
                <a:solidFill>
                  <a:srgbClr val="232D3A"/>
                </a:solidFill>
                <a:latin typeface="Aptos"/>
              </a:rPr>
              <a:t>• </a:t>
            </a:r>
            <a:r>
              <a:rPr lang="en-US" sz="1400" b="1" dirty="0">
                <a:solidFill>
                  <a:srgbClr val="0A1F3A"/>
                </a:solidFill>
                <a:latin typeface="Aptos"/>
              </a:rPr>
              <a:t>Scam alerts by place: </a:t>
            </a:r>
            <a:r>
              <a:rPr lang="en-US" sz="1400" dirty="0">
                <a:solidFill>
                  <a:srgbClr val="232D3A"/>
                </a:solidFill>
                <a:latin typeface="Aptos"/>
              </a:rPr>
              <a:t>known scams at each location.</a:t>
            </a:r>
          </a:p>
          <a:p>
            <a:pPr algn="l">
              <a:spcBef>
                <a:spcPts val="800"/>
              </a:spcBef>
            </a:pPr>
            <a:r>
              <a:rPr lang="en-US" sz="1400" dirty="0">
                <a:solidFill>
                  <a:srgbClr val="232D3A"/>
                </a:solidFill>
                <a:latin typeface="Aptos"/>
              </a:rPr>
              <a:t>• </a:t>
            </a:r>
            <a:r>
              <a:rPr lang="en-US" sz="1400" b="1" dirty="0">
                <a:solidFill>
                  <a:srgbClr val="0A1F3A"/>
                </a:solidFill>
                <a:latin typeface="Aptos"/>
              </a:rPr>
              <a:t>Do's &amp; Don'ts: </a:t>
            </a:r>
            <a:r>
              <a:rPr lang="en-US" sz="1400" dirty="0">
                <a:solidFill>
                  <a:srgbClr val="232D3A"/>
                </a:solidFill>
                <a:latin typeface="Aptos"/>
              </a:rPr>
              <a:t>local rules, culture, and photo limits.</a:t>
            </a:r>
          </a:p>
          <a:p>
            <a:pPr algn="l">
              <a:spcBef>
                <a:spcPts val="800"/>
              </a:spcBef>
            </a:pPr>
            <a:r>
              <a:rPr lang="en-US" sz="1400" dirty="0">
                <a:solidFill>
                  <a:srgbClr val="232D3A"/>
                </a:solidFill>
                <a:latin typeface="Aptos"/>
              </a:rPr>
              <a:t>• </a:t>
            </a:r>
            <a:r>
              <a:rPr lang="en-US" sz="1400" b="1" dirty="0">
                <a:solidFill>
                  <a:srgbClr val="0A1F3A"/>
                </a:solidFill>
                <a:latin typeface="Aptos"/>
              </a:rPr>
              <a:t>Emergency information: </a:t>
            </a:r>
            <a:r>
              <a:rPr lang="en-US" sz="1400" dirty="0">
                <a:solidFill>
                  <a:srgbClr val="232D3A"/>
                </a:solidFill>
                <a:latin typeface="Aptos"/>
              </a:rPr>
              <a:t>contacts, hospitals, and consulate.</a:t>
            </a:r>
          </a:p>
          <a:p>
            <a:pPr algn="l">
              <a:spcBef>
                <a:spcPts val="800"/>
              </a:spcBef>
            </a:pPr>
            <a:r>
              <a:rPr lang="en-US" sz="1400" dirty="0">
                <a:solidFill>
                  <a:srgbClr val="232D3A"/>
                </a:solidFill>
                <a:latin typeface="Aptos"/>
              </a:rPr>
              <a:t>• </a:t>
            </a:r>
            <a:r>
              <a:rPr lang="en-US" sz="1400" b="1" dirty="0">
                <a:solidFill>
                  <a:srgbClr val="0A1F3A"/>
                </a:solidFill>
                <a:latin typeface="Aptos"/>
              </a:rPr>
              <a:t>Travel risk score: </a:t>
            </a:r>
            <a:r>
              <a:rPr lang="en-US" sz="1400" dirty="0">
                <a:solidFill>
                  <a:srgbClr val="232D3A"/>
                </a:solidFill>
                <a:latin typeface="Aptos"/>
              </a:rPr>
              <a:t>a simple safety rating per destination.</a:t>
            </a:r>
          </a:p>
        </p:txBody>
      </p:sp>
      <p:sp>
        <p:nvSpPr>
          <p:cNvPr id="22" name="Card Accent 1"/>
          <p:cNvSpPr/>
          <p:nvPr/>
        </p:nvSpPr>
        <p:spPr>
          <a:xfrm>
            <a:off x="548640" y="1874520"/>
            <a:ext cx="64008" cy="3886200"/>
          </a:xfrm>
          <a:prstGeom prst="rect">
            <a:avLst/>
          </a:prstGeom>
          <a:solidFill>
            <a:srgbClr val="1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3" name="Chip 1"/>
          <p:cNvSpPr/>
          <p:nvPr/>
        </p:nvSpPr>
        <p:spPr>
          <a:xfrm>
            <a:off x="548640" y="1417320"/>
            <a:ext cx="1737360" cy="292608"/>
          </a:xfrm>
          <a:prstGeom prst="roundRect">
            <a:avLst>
              <a:gd name="adj" fmla="val 30000"/>
            </a:avLst>
          </a:prstGeom>
          <a:solidFill>
            <a:srgbClr val="1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ptos"/>
              </a:rPr>
              <a:t>SAFETY</a:t>
            </a:r>
          </a:p>
        </p:txBody>
      </p:sp>
      <p:sp>
        <p:nvSpPr>
          <p:cNvPr id="24" name="Card 2"/>
          <p:cNvSpPr/>
          <p:nvPr/>
        </p:nvSpPr>
        <p:spPr>
          <a:xfrm>
            <a:off x="4343400" y="1783080"/>
            <a:ext cx="352044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46304" rIns="146304" bIns="91440" rtlCol="0" anchor="t"/>
          <a:lstStyle/>
          <a:p>
            <a:pPr algn="l"/>
            <a:r>
              <a:rPr lang="en-US" sz="1800" b="1" dirty="0">
                <a:solidFill>
                  <a:srgbClr val="0A1F3A"/>
                </a:solidFill>
                <a:latin typeface="Aptos"/>
              </a:rPr>
              <a:t>Spend Smart &amp; Adapt</a:t>
            </a:r>
          </a:p>
          <a:p>
            <a:pPr algn="l">
              <a:spcBef>
                <a:spcPts val="800"/>
              </a:spcBef>
            </a:pPr>
            <a:r>
              <a:rPr lang="en-US" sz="1400" dirty="0">
                <a:solidFill>
                  <a:srgbClr val="232D3A"/>
                </a:solidFill>
                <a:latin typeface="Aptos"/>
              </a:rPr>
              <a:t>• </a:t>
            </a:r>
            <a:r>
              <a:rPr lang="en-US" sz="1400" b="1" dirty="0">
                <a:solidFill>
                  <a:srgbClr val="0A1F3A"/>
                </a:solidFill>
                <a:latin typeface="Aptos"/>
              </a:rPr>
              <a:t>Price warnings: </a:t>
            </a:r>
            <a:r>
              <a:rPr lang="en-US" sz="1400" dirty="0">
                <a:solidFill>
                  <a:srgbClr val="232D3A"/>
                </a:solidFill>
                <a:latin typeface="Aptos"/>
              </a:rPr>
              <a:t>flags overcharging against reference prices.</a:t>
            </a:r>
          </a:p>
          <a:p>
            <a:pPr algn="l">
              <a:spcBef>
                <a:spcPts val="800"/>
              </a:spcBef>
            </a:pPr>
            <a:r>
              <a:rPr lang="en-US" sz="1400" dirty="0">
                <a:solidFill>
                  <a:srgbClr val="232D3A"/>
                </a:solidFill>
                <a:latin typeface="Aptos"/>
              </a:rPr>
              <a:t>• </a:t>
            </a:r>
            <a:r>
              <a:rPr lang="en-US" sz="1400" b="1" dirty="0">
                <a:solidFill>
                  <a:srgbClr val="0A1F3A"/>
                </a:solidFill>
                <a:latin typeface="Aptos"/>
              </a:rPr>
              <a:t>Price comparison: </a:t>
            </a:r>
            <a:r>
              <a:rPr lang="en-US" sz="1400" dirty="0">
                <a:solidFill>
                  <a:srgbClr val="232D3A"/>
                </a:solidFill>
                <a:latin typeface="Aptos"/>
              </a:rPr>
              <a:t>compare stays, transport, and tours.</a:t>
            </a:r>
          </a:p>
          <a:p>
            <a:pPr algn="l">
              <a:spcBef>
                <a:spcPts val="800"/>
              </a:spcBef>
            </a:pPr>
            <a:r>
              <a:rPr lang="en-US" sz="1400" dirty="0">
                <a:solidFill>
                  <a:srgbClr val="232D3A"/>
                </a:solidFill>
                <a:latin typeface="Aptos"/>
              </a:rPr>
              <a:t>• </a:t>
            </a:r>
            <a:r>
              <a:rPr lang="en-US" sz="1400" b="1" dirty="0">
                <a:solidFill>
                  <a:srgbClr val="0A1F3A"/>
                </a:solidFill>
                <a:latin typeface="Aptos"/>
              </a:rPr>
              <a:t>Smart replanning: </a:t>
            </a:r>
            <a:r>
              <a:rPr lang="en-US" sz="1400" dirty="0">
                <a:solidFill>
                  <a:srgbClr val="232D3A"/>
                </a:solidFill>
                <a:latin typeface="Aptos"/>
              </a:rPr>
              <a:t>reshuffles the plan on weather, closures, and crowds.</a:t>
            </a:r>
          </a:p>
          <a:p>
            <a:pPr algn="l">
              <a:spcBef>
                <a:spcPts val="800"/>
              </a:spcBef>
            </a:pPr>
            <a:r>
              <a:rPr lang="en-US" sz="1400" dirty="0">
                <a:solidFill>
                  <a:srgbClr val="232D3A"/>
                </a:solidFill>
                <a:latin typeface="Aptos"/>
              </a:rPr>
              <a:t>• </a:t>
            </a:r>
            <a:r>
              <a:rPr lang="en-US" sz="1400" b="1" dirty="0">
                <a:solidFill>
                  <a:srgbClr val="0A1F3A"/>
                </a:solidFill>
                <a:latin typeface="Aptos"/>
              </a:rPr>
              <a:t>Local availability: </a:t>
            </a:r>
            <a:r>
              <a:rPr lang="en-US" sz="1400" dirty="0">
                <a:solidFill>
                  <a:srgbClr val="232D3A"/>
                </a:solidFill>
                <a:latin typeface="Aptos"/>
              </a:rPr>
              <a:t>what is open and available nearby.</a:t>
            </a:r>
          </a:p>
        </p:txBody>
      </p:sp>
      <p:sp>
        <p:nvSpPr>
          <p:cNvPr id="25" name="Card Accent 2"/>
          <p:cNvSpPr/>
          <p:nvPr/>
        </p:nvSpPr>
        <p:spPr>
          <a:xfrm>
            <a:off x="4343400" y="1874520"/>
            <a:ext cx="64008" cy="3886200"/>
          </a:xfrm>
          <a:prstGeom prst="rect">
            <a:avLst/>
          </a:prstGeom>
          <a:solidFill>
            <a:srgbClr val="20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6" name="Chip 2"/>
          <p:cNvSpPr/>
          <p:nvPr/>
        </p:nvSpPr>
        <p:spPr>
          <a:xfrm>
            <a:off x="4343400" y="1417320"/>
            <a:ext cx="1737360" cy="292608"/>
          </a:xfrm>
          <a:prstGeom prst="roundRect">
            <a:avLst>
              <a:gd name="adj" fmla="val 30000"/>
            </a:avLst>
          </a:prstGeom>
          <a:solidFill>
            <a:srgbClr val="20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ptos"/>
              </a:rPr>
              <a:t>SAVINGS</a:t>
            </a:r>
          </a:p>
        </p:txBody>
      </p:sp>
      <p:sp>
        <p:nvSpPr>
          <p:cNvPr id="27" name="Card 3"/>
          <p:cNvSpPr/>
          <p:nvPr/>
        </p:nvSpPr>
        <p:spPr>
          <a:xfrm>
            <a:off x="8138160" y="1783080"/>
            <a:ext cx="352044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46304" rIns="146304" bIns="91440" rtlCol="0" anchor="t"/>
          <a:lstStyle/>
          <a:p>
            <a:pPr algn="l"/>
            <a:r>
              <a:rPr lang="en-US" sz="1800" b="1" dirty="0">
                <a:solidFill>
                  <a:srgbClr val="0A1F3A"/>
                </a:solidFill>
                <a:latin typeface="Aptos"/>
              </a:rPr>
              <a:t>Explore Like a Local</a:t>
            </a:r>
          </a:p>
          <a:p>
            <a:pPr algn="l">
              <a:spcBef>
                <a:spcPts val="800"/>
              </a:spcBef>
            </a:pPr>
            <a:r>
              <a:rPr lang="en-US" sz="1400" dirty="0">
                <a:solidFill>
                  <a:srgbClr val="232D3A"/>
                </a:solidFill>
                <a:latin typeface="Aptos"/>
              </a:rPr>
              <a:t>• </a:t>
            </a:r>
            <a:r>
              <a:rPr lang="en-US" sz="1400" b="1" dirty="0">
                <a:solidFill>
                  <a:srgbClr val="0A1F3A"/>
                </a:solidFill>
                <a:latin typeface="Aptos"/>
              </a:rPr>
              <a:t>Interest-based place selection: </a:t>
            </a:r>
            <a:r>
              <a:rPr lang="en-US" sz="1400" dirty="0">
                <a:solidFill>
                  <a:srgbClr val="232D3A"/>
                </a:solidFill>
                <a:latin typeface="Aptos"/>
              </a:rPr>
              <a:t>choose what you want to see, such as tribal communities or mountains, and the plan is built around it.</a:t>
            </a:r>
          </a:p>
          <a:p>
            <a:pPr algn="l">
              <a:spcBef>
                <a:spcPts val="800"/>
              </a:spcBef>
            </a:pPr>
            <a:r>
              <a:rPr lang="en-US" sz="1400" dirty="0">
                <a:solidFill>
                  <a:srgbClr val="232D3A"/>
                </a:solidFill>
                <a:latin typeface="Aptos"/>
              </a:rPr>
              <a:t>• </a:t>
            </a:r>
            <a:r>
              <a:rPr lang="en-US" sz="1400" b="1" dirty="0">
                <a:solidFill>
                  <a:srgbClr val="0A1F3A"/>
                </a:solidFill>
                <a:latin typeface="Aptos"/>
              </a:rPr>
              <a:t>AI translator: </a:t>
            </a:r>
            <a:r>
              <a:rPr lang="en-US" sz="1400" dirty="0">
                <a:solidFill>
                  <a:srgbClr val="232D3A"/>
                </a:solidFill>
                <a:latin typeface="Aptos"/>
              </a:rPr>
              <a:t>talk with locals in their own language.</a:t>
            </a:r>
          </a:p>
          <a:p>
            <a:pPr algn="l">
              <a:spcBef>
                <a:spcPts val="800"/>
              </a:spcBef>
            </a:pPr>
            <a:r>
              <a:rPr lang="en-US" sz="1400" dirty="0">
                <a:solidFill>
                  <a:srgbClr val="232D3A"/>
                </a:solidFill>
                <a:latin typeface="Aptos"/>
              </a:rPr>
              <a:t>• </a:t>
            </a:r>
            <a:r>
              <a:rPr lang="en-US" sz="1400" b="1" dirty="0">
                <a:solidFill>
                  <a:srgbClr val="0A1F3A"/>
                </a:solidFill>
                <a:latin typeface="Aptos"/>
              </a:rPr>
              <a:t>Lesser-known attractions: </a:t>
            </a:r>
            <a:r>
              <a:rPr lang="en-US" sz="1400" dirty="0">
                <a:solidFill>
                  <a:srgbClr val="232D3A"/>
                </a:solidFill>
                <a:latin typeface="Aptos"/>
              </a:rPr>
              <a:t>a hidden-gem guide away from the crowds.</a:t>
            </a:r>
          </a:p>
          <a:p>
            <a:pPr algn="l">
              <a:spcBef>
                <a:spcPts val="800"/>
              </a:spcBef>
            </a:pPr>
            <a:r>
              <a:rPr lang="en-US" sz="1400" dirty="0">
                <a:solidFill>
                  <a:srgbClr val="232D3A"/>
                </a:solidFill>
                <a:latin typeface="Aptos"/>
              </a:rPr>
              <a:t>• </a:t>
            </a:r>
            <a:r>
              <a:rPr lang="en-US" sz="1400" b="1" dirty="0">
                <a:solidFill>
                  <a:srgbClr val="0A1F3A"/>
                </a:solidFill>
                <a:latin typeface="Aptos"/>
              </a:rPr>
              <a:t>Local recommendations: </a:t>
            </a:r>
            <a:r>
              <a:rPr lang="en-US" sz="1400" dirty="0">
                <a:solidFill>
                  <a:srgbClr val="232D3A"/>
                </a:solidFill>
                <a:latin typeface="Aptos"/>
              </a:rPr>
              <a:t>what to eat, buy, and do nearby.</a:t>
            </a:r>
          </a:p>
        </p:txBody>
      </p:sp>
      <p:sp>
        <p:nvSpPr>
          <p:cNvPr id="28" name="Card Accent 3"/>
          <p:cNvSpPr/>
          <p:nvPr/>
        </p:nvSpPr>
        <p:spPr>
          <a:xfrm>
            <a:off x="8138160" y="1874520"/>
            <a:ext cx="64008" cy="3886200"/>
          </a:xfrm>
          <a:prstGeom prst="rect">
            <a:avLst/>
          </a:prstGeom>
          <a:solidFill>
            <a:srgbClr val="26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29" name="Chip 3"/>
          <p:cNvSpPr/>
          <p:nvPr/>
        </p:nvSpPr>
        <p:spPr>
          <a:xfrm>
            <a:off x="8138160" y="1417320"/>
            <a:ext cx="1737360" cy="292608"/>
          </a:xfrm>
          <a:prstGeom prst="roundRect">
            <a:avLst>
              <a:gd name="adj" fmla="val 30000"/>
            </a:avLst>
          </a:prstGeom>
          <a:solidFill>
            <a:srgbClr val="26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ptos"/>
              </a:rPr>
              <a:t>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rPr sz="800">
                <a:solidFill>
                  <a:srgbClr val="FFFFFF"/>
                </a:solidFill>
                <a:latin typeface="Aptos"/>
              </a:rPr>
              <a:t>AI-Powered Travel Planning &amp; Safety Platform  •  Innovation &amp; Originality  •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</a:rPr>
              <a:t>Originality: Where We Beat Other Planners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87552"/>
            <a:ext cx="109728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100">
                <a:solidFill>
                  <a:srgbClr val="FFFFFF"/>
                </a:solidFill>
                <a:latin typeface="Aptos"/>
              </a:defRPr>
            </a:pPr>
            <a:r>
              <a:rPr sz="1100">
                <a:solidFill>
                  <a:srgbClr val="FFFFFF"/>
                </a:solidFill>
                <a:latin typeface="Aptos"/>
              </a:rPr>
              <a:t>AI planners already exist. Our edge is the safety and protection layer built into the plan.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rPr sz="800">
                <a:solidFill>
                  <a:srgbClr val="FFFFFF"/>
                </a:solidFill>
                <a:latin typeface="Aptos"/>
              </a:rPr>
              <a:t>AI-Powered Travel Planning &amp; Safety Platform  •  Innovation &amp; Originality  •  6/12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417320"/>
            <a:ext cx="2103120" cy="457200"/>
          </a:xfrm>
          <a:prstGeom prst="rect">
            <a:avLst/>
          </a:prstGeom>
          <a:solidFill>
            <a:srgbClr val="0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417320"/>
            <a:ext cx="182879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Planner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417320"/>
            <a:ext cx="4297680" cy="457200"/>
          </a:xfrm>
          <a:prstGeom prst="rect">
            <a:avLst/>
          </a:prstGeom>
          <a:solidFill>
            <a:srgbClr val="0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34640" y="141732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Strength today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49440" y="1417320"/>
            <a:ext cx="4617720" cy="457200"/>
          </a:xfrm>
          <a:prstGeom prst="rect">
            <a:avLst/>
          </a:prstGeom>
          <a:solidFill>
            <a:srgbClr val="0A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0" y="1417320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Where we go further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874519"/>
            <a:ext cx="2103120" cy="731520"/>
          </a:xfrm>
          <a:prstGeom prst="rect">
            <a:avLst/>
          </a:prstGeom>
          <a:solidFill>
            <a:srgbClr val="EEF5FA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1874519"/>
            <a:ext cx="17830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A1F3A"/>
                </a:solidFill>
                <a:latin typeface="Aptos"/>
              </a:rPr>
              <a:t>Mindtrip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1760" y="1874519"/>
            <a:ext cx="4297680" cy="731520"/>
          </a:xfrm>
          <a:prstGeom prst="rect">
            <a:avLst/>
          </a:prstGeom>
          <a:solidFill>
            <a:srgbClr val="EEF5FA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34640" y="1874519"/>
            <a:ext cx="39776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2D3A"/>
                </a:solidFill>
                <a:latin typeface="Aptos"/>
              </a:rPr>
              <a:t>Visual discovery, group planning, some in-app booking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1874519"/>
            <a:ext cx="4617720" cy="731520"/>
          </a:xfrm>
          <a:prstGeom prst="rect">
            <a:avLst/>
          </a:prstGeom>
          <a:solidFill>
            <a:srgbClr val="EEF5FA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0" y="1874519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2D3A"/>
                </a:solidFill>
                <a:latin typeface="Aptos"/>
              </a:rPr>
              <a:t>Adds scam, price, and local-rule intelligence plus budget-aware routing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606039"/>
            <a:ext cx="21031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2606039"/>
            <a:ext cx="17830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A1F3A"/>
                </a:solidFill>
                <a:latin typeface="Aptos"/>
              </a:rPr>
              <a:t>Wanderlog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51760" y="2606039"/>
            <a:ext cx="42976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834640" y="2606039"/>
            <a:ext cx="39776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2D3A"/>
                </a:solidFill>
                <a:latin typeface="Aptos"/>
              </a:rPr>
              <a:t>Map-based itineraries, collaboration, road trips; mostly links out to book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2606039"/>
            <a:ext cx="46177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32320" y="2606039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2D3A"/>
                </a:solidFill>
                <a:latin typeface="Aptos"/>
              </a:rPr>
              <a:t>Auto-builds and optimizes the plan, with safety guidance layered 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337560"/>
            <a:ext cx="2103120" cy="731520"/>
          </a:xfrm>
          <a:prstGeom prst="rect">
            <a:avLst/>
          </a:prstGeom>
          <a:solidFill>
            <a:srgbClr val="EEF5FA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3337560"/>
            <a:ext cx="17830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A1F3A"/>
                </a:solidFill>
                <a:latin typeface="Aptos"/>
              </a:rPr>
              <a:t>Layla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51760" y="3337560"/>
            <a:ext cx="4297680" cy="731520"/>
          </a:xfrm>
          <a:prstGeom prst="rect">
            <a:avLst/>
          </a:prstGeom>
          <a:solidFill>
            <a:srgbClr val="EEF5FA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834640" y="3337560"/>
            <a:ext cx="39776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2D3A"/>
                </a:solidFill>
                <a:latin typeface="Aptos"/>
              </a:rPr>
              <a:t>Conversational planning; bookable trips with a human agent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9440" y="3337560"/>
            <a:ext cx="4617720" cy="731520"/>
          </a:xfrm>
          <a:prstGeom prst="rect">
            <a:avLst/>
          </a:prstGeom>
          <a:solidFill>
            <a:srgbClr val="EEF5FA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32320" y="3337560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2D3A"/>
                </a:solidFill>
                <a:latin typeface="Aptos"/>
              </a:rPr>
              <a:t>Safety and price warnings inside the itinerary, not only booking help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069080"/>
            <a:ext cx="21031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" y="4069080"/>
            <a:ext cx="17830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A1F3A"/>
                </a:solidFill>
                <a:latin typeface="Aptos"/>
              </a:rPr>
              <a:t>Google Gemini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51760" y="4069080"/>
            <a:ext cx="42976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834640" y="4069080"/>
            <a:ext cx="39776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2D3A"/>
                </a:solidFill>
                <a:latin typeface="Aptos"/>
              </a:rPr>
              <a:t>Maps data and hours, flight and hotel discovery, weather-aware changes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49440" y="4069080"/>
            <a:ext cx="461772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32320" y="4069080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2D3A"/>
                </a:solidFill>
                <a:latin typeface="Aptos"/>
              </a:rPr>
              <a:t>General-purpose; we add curated scam and do/don't data per destination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800600"/>
            <a:ext cx="2103120" cy="731520"/>
          </a:xfrm>
          <a:prstGeom prst="rect">
            <a:avLst/>
          </a:prstGeom>
          <a:solidFill>
            <a:srgbClr val="1669BE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1520" y="4800600"/>
            <a:ext cx="17830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Our platform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51760" y="4800600"/>
            <a:ext cx="4297680" cy="731520"/>
          </a:xfrm>
          <a:prstGeom prst="rect">
            <a:avLst/>
          </a:prstGeom>
          <a:solidFill>
            <a:srgbClr val="E6F4EE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834640" y="4800600"/>
            <a:ext cx="39776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32D3A"/>
                </a:solidFill>
                <a:latin typeface="Aptos"/>
              </a:rPr>
              <a:t>Efficient routes, budget fit, hidden gems, safety, and live replanning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49440" y="4800600"/>
            <a:ext cx="4617720" cy="731520"/>
          </a:xfrm>
          <a:prstGeom prst="rect">
            <a:avLst/>
          </a:prstGeom>
          <a:solidFill>
            <a:srgbClr val="E6F4EE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132320" y="4800600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32D3A"/>
                </a:solidFill>
                <a:latin typeface="Aptos"/>
              </a:rPr>
              <a:t>One plan that is efficient, safe, and adaptive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669280"/>
            <a:ext cx="11109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F6E7D"/>
                </a:solidFill>
                <a:latin typeface="Aptos"/>
              </a:rPr>
              <a:t>Based on public product descriptions and third-party reviews (Layla, SearchSpot, EasyTripAI), Oct 2026. Features change quickly; verify before the pitch.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161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</a:rPr>
              <a:t>Technical Feasibility: Data Sources &amp;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87552"/>
            <a:ext cx="10972800" cy="2616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100">
                <a:solidFill>
                  <a:srgbClr val="FFFFFF"/>
                </a:solidFill>
                <a:latin typeface="Aptos"/>
              </a:defRPr>
            </a:pPr>
            <a:r>
              <a:rPr dirty="0">
                <a:solidFill>
                  <a:srgbClr val="FFFFFF"/>
                </a:solidFill>
              </a:rPr>
              <a:t>A buildable plan: core MVP in hackathon time, real-time layers next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178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46304" rIns="146304" rtlCol="0" anchor="ctr"/>
          <a:lstStyle/>
          <a:p>
            <a:pPr algn="ctr">
              <a:defRPr sz="1600" b="1">
                <a:solidFill>
                  <a:srgbClr val="0A1F3A"/>
                </a:solidFill>
                <a:latin typeface="Aptos"/>
              </a:defRPr>
            </a:pPr>
            <a:r>
              <a:rPr sz="2000" b="1" dirty="0">
                <a:solidFill>
                  <a:srgbClr val="0A1F3A"/>
                </a:solidFill>
                <a:latin typeface="Aptos"/>
              </a:rPr>
              <a:t>Data Sources</a:t>
            </a:r>
          </a:p>
          <a:p>
            <a:pPr>
              <a:spcBef>
                <a:spcPts val="800"/>
              </a:spcBef>
              <a:defRPr sz="1100">
                <a:solidFill>
                  <a:srgbClr val="232D3A"/>
                </a:solidFill>
                <a:latin typeface="Aptos"/>
              </a:defRPr>
            </a:pPr>
            <a:r>
              <a:rPr sz="2000" dirty="0">
                <a:solidFill>
                  <a:srgbClr val="232D3A"/>
                </a:solidFill>
                <a:latin typeface="Aptos"/>
              </a:rPr>
              <a:t>• Maps and places data for routes and hours.</a:t>
            </a:r>
          </a:p>
          <a:p>
            <a:pPr>
              <a:spcBef>
                <a:spcPts val="800"/>
              </a:spcBef>
              <a:defRPr sz="1100">
                <a:solidFill>
                  <a:srgbClr val="232D3A"/>
                </a:solidFill>
                <a:latin typeface="Aptos"/>
              </a:defRPr>
            </a:pPr>
            <a:r>
              <a:rPr sz="2000" dirty="0">
                <a:solidFill>
                  <a:srgbClr val="232D3A"/>
                </a:solidFill>
                <a:latin typeface="Aptos"/>
              </a:rPr>
              <a:t>• Weather forecast feed for live sync.</a:t>
            </a:r>
          </a:p>
          <a:p>
            <a:pPr>
              <a:spcBef>
                <a:spcPts val="800"/>
              </a:spcBef>
              <a:defRPr sz="1100">
                <a:solidFill>
                  <a:srgbClr val="232D3A"/>
                </a:solidFill>
                <a:latin typeface="Aptos"/>
              </a:defRPr>
            </a:pPr>
            <a:r>
              <a:rPr sz="2000" dirty="0">
                <a:solidFill>
                  <a:srgbClr val="232D3A"/>
                </a:solidFill>
                <a:latin typeface="Aptos"/>
              </a:rPr>
              <a:t>• Curated, source-linked scam and price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64008" cy="4434840"/>
          </a:xfrm>
          <a:prstGeom prst="rect">
            <a:avLst/>
          </a:prstGeom>
          <a:solidFill>
            <a:srgbClr val="20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40780" y="1417320"/>
            <a:ext cx="54178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46304" rIns="146304" rtlCol="0" anchor="ctr"/>
          <a:lstStyle/>
          <a:p>
            <a:pPr algn="ctr">
              <a:defRPr sz="1600" b="1">
                <a:solidFill>
                  <a:srgbClr val="0A1F3A"/>
                </a:solidFill>
                <a:latin typeface="Aptos"/>
              </a:defRPr>
            </a:pPr>
            <a:r>
              <a:rPr sz="2000" b="1" dirty="0">
                <a:solidFill>
                  <a:srgbClr val="0A1F3A"/>
                </a:solidFill>
                <a:latin typeface="Aptos"/>
              </a:rPr>
              <a:t>Feasibility &amp; Risks</a:t>
            </a:r>
          </a:p>
          <a:p>
            <a:pPr>
              <a:spcBef>
                <a:spcPts val="800"/>
              </a:spcBef>
              <a:defRPr sz="1100">
                <a:solidFill>
                  <a:srgbClr val="232D3A"/>
                </a:solidFill>
                <a:latin typeface="Aptos"/>
              </a:defRPr>
            </a:pPr>
            <a:r>
              <a:rPr sz="2000" dirty="0">
                <a:solidFill>
                  <a:srgbClr val="232D3A"/>
                </a:solidFill>
                <a:latin typeface="Aptos"/>
              </a:rPr>
              <a:t>• MVP: itinerary, routing, Scam Shield.</a:t>
            </a:r>
          </a:p>
          <a:p>
            <a:pPr>
              <a:spcBef>
                <a:spcPts val="800"/>
              </a:spcBef>
              <a:defRPr sz="1100">
                <a:solidFill>
                  <a:srgbClr val="232D3A"/>
                </a:solidFill>
                <a:latin typeface="Aptos"/>
              </a:defRPr>
            </a:pPr>
            <a:r>
              <a:rPr sz="2000" dirty="0">
                <a:solidFill>
                  <a:srgbClr val="232D3A"/>
                </a:solidFill>
                <a:latin typeface="Aptos"/>
              </a:rPr>
              <a:t>• Real-time alerts deferred to Phase 2.</a:t>
            </a:r>
          </a:p>
          <a:p>
            <a:pPr>
              <a:spcBef>
                <a:spcPts val="800"/>
              </a:spcBef>
              <a:defRPr sz="1100">
                <a:solidFill>
                  <a:srgbClr val="232D3A"/>
                </a:solidFill>
                <a:latin typeface="Aptos"/>
              </a:defRPr>
            </a:pPr>
            <a:r>
              <a:rPr sz="2000" dirty="0">
                <a:solidFill>
                  <a:srgbClr val="232D3A"/>
                </a:solidFill>
                <a:latin typeface="Aptos"/>
              </a:rPr>
              <a:t>• Data accuracy risk: show source and date.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0780" y="1417320"/>
            <a:ext cx="64008" cy="4434840"/>
          </a:xfrm>
          <a:prstGeom prst="rect">
            <a:avLst/>
          </a:prstGeom>
          <a:solidFill>
            <a:srgbClr val="26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rPr sz="800">
                <a:solidFill>
                  <a:srgbClr val="FFFFFF"/>
                </a:solidFill>
                <a:latin typeface="Aptos"/>
              </a:rPr>
              <a:t>AI-Powered Travel Planning &amp; Safety Platform  •  Technical Feasibility  •  8/12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</a:rPr>
              <a:t>Impact: A Booming Market to Serve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87552"/>
            <a:ext cx="109728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100">
                <a:solidFill>
                  <a:srgbClr val="FFFFFF"/>
                </a:solidFill>
                <a:latin typeface="Aptos"/>
              </a:defRPr>
            </a:pPr>
            <a:r>
              <a:rPr sz="1100">
                <a:solidFill>
                  <a:srgbClr val="FFFFFF"/>
                </a:solidFill>
                <a:latin typeface="Aptos"/>
              </a:rPr>
              <a:t>Domestic travel in India is booming, and AI trip planning is still early and fast-growing.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rPr sz="800">
                <a:solidFill>
                  <a:srgbClr val="FFFFFF"/>
                </a:solidFill>
                <a:latin typeface="Aptos"/>
              </a:rPr>
              <a:t>AI-Powered Travel Planning &amp; Safety Platform  •  Impact &amp; Scalability  •  9/12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463040"/>
            <a:ext cx="39319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1463040"/>
            <a:ext cx="1600200" cy="1325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669BE"/>
                </a:solidFill>
                <a:latin typeface="Aptos Display"/>
              </a:rPr>
              <a:t>4.29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1463040"/>
            <a:ext cx="1874519" cy="1325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2D3A"/>
                </a:solidFill>
                <a:latin typeface="Aptos"/>
              </a:rPr>
              <a:t>domestic tourist visits in India, 2025 (+45.6% YoY)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71800"/>
            <a:ext cx="39319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2971800"/>
            <a:ext cx="1600200" cy="1325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0B4D2"/>
                </a:solidFill>
                <a:latin typeface="Aptos Display"/>
              </a:rPr>
              <a:t>9.15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971800"/>
            <a:ext cx="1874519" cy="1325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2D3A"/>
                </a:solidFill>
                <a:latin typeface="Aptos"/>
              </a:rPr>
              <a:t>foreign tourist arrivals in India, 2025 (−8.1% YoY)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80560"/>
            <a:ext cx="393192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480560"/>
            <a:ext cx="1600200" cy="1325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69669"/>
                </a:solidFill>
                <a:latin typeface="Aptos Display"/>
              </a:rPr>
              <a:t>5.22%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4480560"/>
            <a:ext cx="1874519" cy="1325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32D3A"/>
                </a:solidFill>
                <a:latin typeface="Aptos"/>
              </a:rPr>
              <a:t>tourism share of India's GDP, supporting 84.6 M jobs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1463040"/>
            <a:ext cx="690372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0" y="164592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A1F3A"/>
                </a:solidFill>
                <a:latin typeface="Aptos"/>
              </a:rPr>
              <a:t>AI trip planning market (USD billions)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4937760" y="2011680"/>
          <a:ext cx="65379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029200" y="4343400"/>
            <a:ext cx="6400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F6E7D"/>
                </a:solidFill>
                <a:latin typeface="Aptos"/>
              </a:rPr>
              <a:t>Projected at a 27.5% CAGR (TrendX Insights). Estimates vary widely by definition; broader "AI in travel" reports size the market far higher, so treat these as directional.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5212080"/>
            <a:ext cx="6903720" cy="731520"/>
          </a:xfrm>
          <a:prstGeom prst="roundRect">
            <a:avLst>
              <a:gd name="adj" fmla="val 15000"/>
            </a:avLst>
          </a:prstGeom>
          <a:solidFill>
            <a:srgbClr val="0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0" y="5212080"/>
            <a:ext cx="64008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DEBF5"/>
                </a:solidFill>
                <a:latin typeface="Aptos"/>
              </a:rPr>
              <a:t>Beachhead: </a:t>
            </a:r>
            <a:r>
              <a:rPr sz="1300" b="0">
                <a:solidFill>
                  <a:srgbClr val="FFFFFF"/>
                </a:solidFill>
                <a:latin typeface="Aptos"/>
              </a:rPr>
              <a:t>Indian travelers planning domestic trips (e.g., Kerala) first, then international destinations.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161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</a:rPr>
              <a:t>Impact &amp; Scalability: Kerala to the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87552"/>
            <a:ext cx="109728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100">
                <a:solidFill>
                  <a:srgbClr val="FFFFFF"/>
                </a:solidFill>
                <a:latin typeface="Aptos"/>
              </a:defRPr>
            </a:pPr>
            <a:r>
              <a:rPr sz="1100">
                <a:solidFill>
                  <a:srgbClr val="FFFFFF"/>
                </a:solidFill>
                <a:latin typeface="Aptos"/>
              </a:rPr>
              <a:t>Real traveler value now, with a clear path from Kerala to the world.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46304" rIns="146304" rtlCol="0" anchor="ctr"/>
          <a:lstStyle/>
          <a:p>
            <a:pPr algn="ctr">
              <a:defRPr sz="1600" b="1">
                <a:solidFill>
                  <a:srgbClr val="0A1F3A"/>
                </a:solidFill>
                <a:latin typeface="Aptos"/>
              </a:defRPr>
            </a:pPr>
            <a:r>
              <a:rPr sz="2400" b="1" dirty="0">
                <a:solidFill>
                  <a:srgbClr val="0A1F3A"/>
                </a:solidFill>
                <a:latin typeface="Aptos"/>
              </a:rPr>
              <a:t>Impact on Travelers</a:t>
            </a:r>
          </a:p>
          <a:p>
            <a:pPr>
              <a:spcBef>
                <a:spcPts val="800"/>
              </a:spcBef>
              <a:defRPr sz="1100">
                <a:solidFill>
                  <a:srgbClr val="232D3A"/>
                </a:solidFill>
                <a:latin typeface="Aptos"/>
              </a:defRPr>
            </a:pPr>
            <a:r>
              <a:rPr sz="2000" dirty="0">
                <a:solidFill>
                  <a:srgbClr val="232D3A"/>
                </a:solidFill>
                <a:latin typeface="Aptos"/>
              </a:rPr>
              <a:t>• One plan replaces dozens of research tabs.</a:t>
            </a:r>
          </a:p>
          <a:p>
            <a:pPr>
              <a:spcBef>
                <a:spcPts val="800"/>
              </a:spcBef>
              <a:defRPr sz="1100">
                <a:solidFill>
                  <a:srgbClr val="232D3A"/>
                </a:solidFill>
                <a:latin typeface="Aptos"/>
              </a:defRPr>
            </a:pPr>
            <a:r>
              <a:rPr sz="2000" dirty="0">
                <a:solidFill>
                  <a:srgbClr val="232D3A"/>
                </a:solidFill>
                <a:latin typeface="Aptos"/>
              </a:rPr>
              <a:t>• Protects budgets from overcharging and scams.</a:t>
            </a:r>
          </a:p>
          <a:p>
            <a:pPr>
              <a:spcBef>
                <a:spcPts val="800"/>
              </a:spcBef>
              <a:defRPr sz="1100">
                <a:solidFill>
                  <a:srgbClr val="232D3A"/>
                </a:solidFill>
                <a:latin typeface="Aptos"/>
              </a:defRPr>
            </a:pPr>
            <a:r>
              <a:rPr sz="2000" dirty="0">
                <a:solidFill>
                  <a:srgbClr val="232D3A"/>
                </a:solidFill>
                <a:latin typeface="Aptos"/>
              </a:rPr>
              <a:t>• Cuts road time with forward-only routes.</a:t>
            </a:r>
          </a:p>
          <a:p>
            <a:pPr>
              <a:spcBef>
                <a:spcPts val="800"/>
              </a:spcBef>
              <a:defRPr sz="1100">
                <a:solidFill>
                  <a:srgbClr val="232D3A"/>
                </a:solidFill>
                <a:latin typeface="Aptos"/>
              </a:defRPr>
            </a:pPr>
            <a:r>
              <a:rPr sz="2000" dirty="0">
                <a:solidFill>
                  <a:srgbClr val="232D3A"/>
                </a:solidFill>
                <a:latin typeface="Aptos"/>
              </a:rPr>
              <a:t>• Helps solo and first-time travelers feel safer.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64008" cy="4480560"/>
          </a:xfrm>
          <a:prstGeom prst="rect">
            <a:avLst/>
          </a:prstGeom>
          <a:solidFill>
            <a:srgbClr val="1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63640" y="137160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46304" rIns="146304" rtlCol="0" anchor="ctr"/>
          <a:lstStyle/>
          <a:p>
            <a:pPr algn="ctr">
              <a:defRPr sz="1600" b="1">
                <a:solidFill>
                  <a:srgbClr val="0A1F3A"/>
                </a:solidFill>
                <a:latin typeface="Aptos"/>
              </a:defRPr>
            </a:pPr>
            <a:r>
              <a:rPr sz="2400" b="1" dirty="0">
                <a:solidFill>
                  <a:srgbClr val="0A1F3A"/>
                </a:solidFill>
                <a:latin typeface="Aptos"/>
              </a:rPr>
              <a:t>Scales Beyond One State</a:t>
            </a:r>
          </a:p>
          <a:p>
            <a:pPr>
              <a:spcBef>
                <a:spcPts val="800"/>
              </a:spcBef>
              <a:defRPr sz="1100">
                <a:solidFill>
                  <a:srgbClr val="232D3A"/>
                </a:solidFill>
                <a:latin typeface="Aptos"/>
              </a:defRPr>
            </a:pPr>
            <a:r>
              <a:rPr sz="2000" dirty="0">
                <a:solidFill>
                  <a:srgbClr val="232D3A"/>
                </a:solidFill>
                <a:latin typeface="Aptos"/>
              </a:rPr>
              <a:t>• Start: </a:t>
            </a:r>
            <a:r>
              <a:rPr lang="en-US" sz="2000" dirty="0">
                <a:solidFill>
                  <a:srgbClr val="232D3A"/>
                </a:solidFill>
                <a:latin typeface="Aptos"/>
              </a:rPr>
              <a:t>D</a:t>
            </a:r>
            <a:r>
              <a:rPr sz="2000" dirty="0" smtClean="0">
                <a:solidFill>
                  <a:srgbClr val="232D3A"/>
                </a:solidFill>
                <a:latin typeface="Aptos"/>
              </a:rPr>
              <a:t>omestic </a:t>
            </a:r>
            <a:r>
              <a:rPr sz="2000" dirty="0">
                <a:solidFill>
                  <a:srgbClr val="232D3A"/>
                </a:solidFill>
                <a:latin typeface="Aptos"/>
              </a:rPr>
              <a:t>India (4.29 B visits).</a:t>
            </a:r>
          </a:p>
          <a:p>
            <a:pPr>
              <a:spcBef>
                <a:spcPts val="800"/>
              </a:spcBef>
              <a:defRPr sz="1100">
                <a:solidFill>
                  <a:srgbClr val="232D3A"/>
                </a:solidFill>
                <a:latin typeface="Aptos"/>
              </a:defRPr>
            </a:pPr>
            <a:r>
              <a:rPr sz="2000" dirty="0">
                <a:solidFill>
                  <a:srgbClr val="232D3A"/>
                </a:solidFill>
                <a:latin typeface="Aptos"/>
              </a:rPr>
              <a:t>• Next: </a:t>
            </a:r>
            <a:r>
              <a:rPr sz="2000">
                <a:solidFill>
                  <a:srgbClr val="232D3A"/>
                </a:solidFill>
                <a:latin typeface="Aptos"/>
              </a:rPr>
              <a:t>more </a:t>
            </a:r>
            <a:r>
              <a:rPr lang="en-US" sz="2000" smtClean="0">
                <a:solidFill>
                  <a:srgbClr val="232D3A"/>
                </a:solidFill>
                <a:latin typeface="Aptos"/>
              </a:rPr>
              <a:t>countries</a:t>
            </a:r>
            <a:r>
              <a:rPr sz="2000" smtClean="0">
                <a:solidFill>
                  <a:srgbClr val="232D3A"/>
                </a:solidFill>
                <a:latin typeface="Aptos"/>
              </a:rPr>
              <a:t> </a:t>
            </a:r>
            <a:r>
              <a:rPr sz="2000" dirty="0">
                <a:solidFill>
                  <a:srgbClr val="232D3A"/>
                </a:solidFill>
                <a:latin typeface="Aptos"/>
              </a:rPr>
              <a:t>via reusable destination data.</a:t>
            </a:r>
          </a:p>
          <a:p>
            <a:pPr>
              <a:spcBef>
                <a:spcPts val="800"/>
              </a:spcBef>
              <a:defRPr sz="1100">
                <a:solidFill>
                  <a:srgbClr val="232D3A"/>
                </a:solidFill>
                <a:latin typeface="Aptos"/>
              </a:defRPr>
            </a:pPr>
            <a:r>
              <a:rPr sz="2000" dirty="0">
                <a:solidFill>
                  <a:srgbClr val="232D3A"/>
                </a:solidFill>
                <a:latin typeface="Aptos"/>
              </a:rPr>
              <a:t>• Then: international trips and more languages.</a:t>
            </a:r>
          </a:p>
          <a:p>
            <a:pPr>
              <a:spcBef>
                <a:spcPts val="800"/>
              </a:spcBef>
              <a:defRPr sz="1100">
                <a:solidFill>
                  <a:srgbClr val="232D3A"/>
                </a:solidFill>
                <a:latin typeface="Aptos"/>
              </a:defRPr>
            </a:pPr>
            <a:r>
              <a:rPr sz="2000" dirty="0">
                <a:solidFill>
                  <a:srgbClr val="232D3A"/>
                </a:solidFill>
                <a:latin typeface="Aptos"/>
              </a:rPr>
              <a:t>• Later: booking partners and local safety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371600"/>
            <a:ext cx="64008" cy="4480560"/>
          </a:xfrm>
          <a:prstGeom prst="rect">
            <a:avLst/>
          </a:prstGeom>
          <a:solidFill>
            <a:srgbClr val="20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5840" y="5532120"/>
            <a:ext cx="1554480" cy="347472"/>
          </a:xfrm>
          <a:prstGeom prst="roundRect">
            <a:avLst/>
          </a:prstGeom>
          <a:solidFill>
            <a:srgbClr val="1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</a:rPr>
              <a:t>SAVE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5532120"/>
            <a:ext cx="1554480" cy="347472"/>
          </a:xfrm>
          <a:prstGeom prst="roundRect">
            <a:avLst/>
          </a:prstGeom>
          <a:solidFill>
            <a:srgbClr val="26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</a:rPr>
              <a:t>SAVE MONEY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5532120"/>
            <a:ext cx="1554480" cy="347472"/>
          </a:xfrm>
          <a:prstGeom prst="roundRect">
            <a:avLst/>
          </a:prstGeom>
          <a:solidFill>
            <a:srgbClr val="20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</a:rPr>
              <a:t>STAY SAFE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5532120"/>
            <a:ext cx="1554480" cy="347472"/>
          </a:xfrm>
          <a:prstGeom prst="round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</a:rPr>
              <a:t>SCALE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rPr sz="800">
                <a:solidFill>
                  <a:srgbClr val="FFFFFF"/>
                </a:solidFill>
                <a:latin typeface="Aptos"/>
              </a:rPr>
              <a:t>AI-Powered Travel Planning &amp; Safety Platform  •  Impact &amp; Scalability  •  10/12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001161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</a:rPr>
              <a:t>Scalability Roadmap: MVP First, Then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987552"/>
            <a:ext cx="109728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100">
                <a:solidFill>
                  <a:srgbClr val="FFFFFF"/>
                </a:solidFill>
                <a:latin typeface="Aptos"/>
              </a:defRPr>
            </a:pPr>
            <a:r>
              <a:rPr sz="1100">
                <a:solidFill>
                  <a:srgbClr val="FFFFFF"/>
                </a:solidFill>
                <a:latin typeface="Aptos"/>
              </a:rPr>
              <a:t>Hackathon MVP first; advanced real-time intelligence next.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46304" rIns="146304" rtlCol="0" anchor="ctr"/>
          <a:lstStyle/>
          <a:p>
            <a:pPr algn="ctr">
              <a:defRPr sz="1600" b="1">
                <a:solidFill>
                  <a:srgbClr val="0A1F3A"/>
                </a:solidFill>
                <a:latin typeface="Aptos"/>
              </a:defRPr>
            </a:pPr>
            <a:r>
              <a:rPr sz="2400" b="1" dirty="0">
                <a:solidFill>
                  <a:srgbClr val="0A1F3A"/>
                </a:solidFill>
                <a:latin typeface="Aptos"/>
              </a:rPr>
              <a:t>Phase 1 — Must-Have MVP</a:t>
            </a:r>
          </a:p>
          <a:p>
            <a:pPr>
              <a:spcBef>
                <a:spcPts val="800"/>
              </a:spcBef>
              <a:defRPr sz="1100">
                <a:solidFill>
                  <a:srgbClr val="232D3A"/>
                </a:solidFill>
                <a:latin typeface="Aptos"/>
              </a:defRPr>
            </a:pPr>
            <a:r>
              <a:rPr sz="2000" dirty="0">
                <a:solidFill>
                  <a:srgbClr val="232D3A"/>
                </a:solidFill>
                <a:latin typeface="Aptos"/>
              </a:rPr>
              <a:t>• Input parameters: budget, days, travel type, preferences.</a:t>
            </a:r>
          </a:p>
          <a:p>
            <a:pPr>
              <a:spcBef>
                <a:spcPts val="800"/>
              </a:spcBef>
              <a:defRPr sz="1100">
                <a:solidFill>
                  <a:srgbClr val="232D3A"/>
                </a:solidFill>
                <a:latin typeface="Aptos"/>
              </a:defRPr>
            </a:pPr>
            <a:r>
              <a:rPr sz="2000" dirty="0">
                <a:solidFill>
                  <a:srgbClr val="232D3A"/>
                </a:solidFill>
                <a:latin typeface="Aptos"/>
              </a:rPr>
              <a:t>• AI itinerary generator with route optimization.</a:t>
            </a:r>
          </a:p>
          <a:p>
            <a:pPr>
              <a:spcBef>
                <a:spcPts val="800"/>
              </a:spcBef>
              <a:defRPr sz="1100">
                <a:solidFill>
                  <a:srgbClr val="232D3A"/>
                </a:solidFill>
                <a:latin typeface="Aptos"/>
              </a:defRPr>
            </a:pPr>
            <a:r>
              <a:rPr sz="2000" dirty="0">
                <a:solidFill>
                  <a:srgbClr val="232D3A"/>
                </a:solidFill>
                <a:latin typeface="Aptos"/>
              </a:rPr>
              <a:t>• Destination timing and hidden-gem recommendations.</a:t>
            </a:r>
          </a:p>
          <a:p>
            <a:pPr>
              <a:spcBef>
                <a:spcPts val="800"/>
              </a:spcBef>
              <a:defRPr sz="1100">
                <a:solidFill>
                  <a:srgbClr val="232D3A"/>
                </a:solidFill>
                <a:latin typeface="Aptos"/>
              </a:defRPr>
            </a:pPr>
            <a:r>
              <a:rPr sz="2000" dirty="0">
                <a:solidFill>
                  <a:srgbClr val="232D3A"/>
                </a:solidFill>
                <a:latin typeface="Aptos"/>
              </a:rPr>
              <a:t>• Scam Shield + local Do's/Don'ts module.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64008" cy="4480560"/>
          </a:xfrm>
          <a:prstGeom prst="rect">
            <a:avLst/>
          </a:prstGeom>
          <a:solidFill>
            <a:srgbClr val="1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63640" y="1371600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46304" rIns="146304" rtlCol="0" anchor="ctr"/>
          <a:lstStyle/>
          <a:p>
            <a:pPr algn="ctr">
              <a:defRPr sz="1600" b="1">
                <a:solidFill>
                  <a:srgbClr val="0A1F3A"/>
                </a:solidFill>
                <a:latin typeface="Aptos"/>
              </a:defRPr>
            </a:pPr>
            <a:r>
              <a:rPr sz="2400" b="1" dirty="0">
                <a:solidFill>
                  <a:srgbClr val="0A1F3A"/>
                </a:solidFill>
                <a:latin typeface="Aptos"/>
              </a:rPr>
              <a:t>Phase 2 — Future Scope</a:t>
            </a:r>
          </a:p>
          <a:p>
            <a:pPr>
              <a:spcBef>
                <a:spcPts val="800"/>
              </a:spcBef>
              <a:defRPr sz="1100">
                <a:solidFill>
                  <a:srgbClr val="232D3A"/>
                </a:solidFill>
                <a:latin typeface="Aptos"/>
              </a:defRPr>
            </a:pPr>
            <a:r>
              <a:rPr sz="2000" dirty="0">
                <a:solidFill>
                  <a:srgbClr val="232D3A"/>
                </a:solidFill>
                <a:latin typeface="Aptos"/>
              </a:rPr>
              <a:t>• Live crowd-density alerts.</a:t>
            </a:r>
          </a:p>
          <a:p>
            <a:pPr>
              <a:spcBef>
                <a:spcPts val="800"/>
              </a:spcBef>
              <a:defRPr sz="1100">
                <a:solidFill>
                  <a:srgbClr val="232D3A"/>
                </a:solidFill>
                <a:latin typeface="Aptos"/>
              </a:defRPr>
            </a:pPr>
            <a:r>
              <a:rPr sz="2000" dirty="0">
                <a:solidFill>
                  <a:srgbClr val="232D3A"/>
                </a:solidFill>
                <a:latin typeface="Aptos"/>
              </a:rPr>
              <a:t>• Real-time Tourist Price Guard notifications.</a:t>
            </a:r>
          </a:p>
          <a:p>
            <a:pPr>
              <a:spcBef>
                <a:spcPts val="800"/>
              </a:spcBef>
              <a:defRPr sz="1100">
                <a:solidFill>
                  <a:srgbClr val="232D3A"/>
                </a:solidFill>
                <a:latin typeface="Aptos"/>
              </a:defRPr>
            </a:pPr>
            <a:r>
              <a:rPr sz="2000" dirty="0">
                <a:solidFill>
                  <a:srgbClr val="232D3A"/>
                </a:solidFill>
                <a:latin typeface="Aptos"/>
              </a:rPr>
              <a:t>• Interactive “What-If” itinerary simulator.</a:t>
            </a:r>
          </a:p>
          <a:p>
            <a:pPr>
              <a:spcBef>
                <a:spcPts val="800"/>
              </a:spcBef>
              <a:defRPr sz="1100">
                <a:solidFill>
                  <a:srgbClr val="232D3A"/>
                </a:solidFill>
                <a:latin typeface="Aptos"/>
              </a:defRPr>
            </a:pPr>
            <a:r>
              <a:rPr sz="2000" dirty="0">
                <a:solidFill>
                  <a:srgbClr val="232D3A"/>
                </a:solidFill>
                <a:latin typeface="Aptos"/>
              </a:rPr>
              <a:t>• Deeper real-time adaptation and personalization</a:t>
            </a:r>
            <a:r>
              <a:rPr sz="1100" dirty="0">
                <a:solidFill>
                  <a:srgbClr val="232D3A"/>
                </a:solidFill>
                <a:latin typeface="Aptos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371600"/>
            <a:ext cx="64008" cy="4480560"/>
          </a:xfrm>
          <a:prstGeom prst="rect">
            <a:avLst/>
          </a:prstGeom>
          <a:solidFill>
            <a:srgbClr val="20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5840" y="5532120"/>
            <a:ext cx="1554480" cy="347472"/>
          </a:xfrm>
          <a:prstGeom prst="roundRect">
            <a:avLst/>
          </a:prstGeom>
          <a:solidFill>
            <a:srgbClr val="1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</a:rPr>
              <a:t>BUILD MVP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5532120"/>
            <a:ext cx="1554480" cy="347472"/>
          </a:xfrm>
          <a:prstGeom prst="roundRect">
            <a:avLst/>
          </a:prstGeom>
          <a:solidFill>
            <a:srgbClr val="26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</a:rPr>
              <a:t>VALIDATE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5532120"/>
            <a:ext cx="1554480" cy="347472"/>
          </a:xfrm>
          <a:prstGeom prst="roundRect">
            <a:avLst/>
          </a:prstGeom>
          <a:solidFill>
            <a:srgbClr val="20B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</a:rPr>
              <a:t>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5532120"/>
            <a:ext cx="1554480" cy="347472"/>
          </a:xfrm>
          <a:prstGeom prst="roundRect">
            <a:avLst/>
          </a:prstGeom>
          <a:solidFill>
            <a:srgbClr val="EB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</a:rPr>
              <a:t>ADAPT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  <a:latin typeface="Aptos"/>
              </a:defRPr>
            </a:pPr>
            <a:r>
              <a:rPr sz="800">
                <a:solidFill>
                  <a:srgbClr val="FFFFFF"/>
                </a:solidFill>
                <a:latin typeface="Aptos"/>
              </a:rPr>
              <a:t>AI-Powered Travel Planning &amp; Safety Platform  •  Impact &amp; Scalability  •  11/12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hank You Video" descr="Animated jungle explorer scene"/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hank You Text"/>
          <p:cNvSpPr txBox="1"/>
          <p:nvPr/>
        </p:nvSpPr>
        <p:spPr>
          <a:xfrm>
            <a:off x="2743200" y="457200"/>
            <a:ext cx="6705600" cy="1143000"/>
          </a:xfrm>
          <a:prstGeom prst="roundRect">
            <a:avLst>
              <a:gd name="adj" fmla="val 20000"/>
            </a:avLst>
          </a:prstGeom>
          <a:solidFill>
            <a:srgbClr val="0A1F3A">
              <a:alpha val="72000"/>
            </a:srgbClr>
          </a:solidFill>
        </p:spPr>
        <p:txBody>
          <a:bodyPr wrap="square" anchor="ctr">
            <a:noAutofit/>
          </a:bodyPr>
          <a:lstStyle/>
          <a:p>
            <a:pPr algn="ctr"/>
            <a:r>
              <a:rPr lang="en-US" sz="5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presetID="53" presetClass="entr" presetSubtype="16" fill="hold" nodeType="withEffect">
                            <p:stCondLst>
                              <p:cond delay="30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>
                                  <p:cTn id="9" dur="800" fill="hold"/>
                                  <p:tgtEl>
                                    <p:spTgt spid="4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strVal val="#ppt_w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>
                                  <p:cTn id="10" dur="800" fill="hold"/>
                                  <p:tgtEl>
                                    <p:spTgt spid="4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"/>
                                    </p:val>
                                  </p:tav>
                                  <p:tav tm="100000">
                                    <p:val>
                                      <p:strVal val="#ppt_h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11" dur="8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1509</Words>
  <Application>Microsoft Office PowerPoint</Application>
  <PresentationFormat>Widescreen</PresentationFormat>
  <Paragraphs>164</Paragraphs>
  <Slides>11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LENOVO</dc:creator>
  <cp:keywords/>
  <dc:description>generated using python-pptx</dc:description>
  <cp:lastModifiedBy>LENOVO</cp:lastModifiedBy>
  <cp:revision>5</cp:revision>
  <dcterms:created xsi:type="dcterms:W3CDTF">2013-01-27T09:14:16Z</dcterms:created>
  <dcterms:modified xsi:type="dcterms:W3CDTF">2026-10-05T09:34:51Z</dcterms:modified>
  <cp:category/>
</cp:coreProperties>
</file>